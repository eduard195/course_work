
<file path=[Content_Types].xml><?xml version="1.0" encoding="utf-8"?>
<Types xmlns="http://schemas.openxmlformats.org/package/2006/content-types">
  <Default Extension="bmp" ContentType="image/bmp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34222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9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32914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3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8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8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60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72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07336" y="292608"/>
            <a:ext cx="6163056" cy="6272784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505454" y="6265818"/>
            <a:ext cx="3950208" cy="274320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10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bg1">
              <a:lumMod val="50000"/>
              <a:lumOff val="5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6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50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7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9" name="Rectangle 8"/>
          <p:cNvSpPr/>
          <p:nvPr/>
        </p:nvSpPr>
        <p:spPr>
          <a:xfrm>
            <a:off x="292608" y="292608"/>
            <a:ext cx="8558784" cy="6272784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338" y="6265818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265818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3555" y="6265818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55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Ներածություն և թեմայի նկարագրություն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2219" y="2163778"/>
            <a:ext cx="6636190" cy="4191755"/>
          </a:xfrm>
        </p:spPr>
        <p:txBody>
          <a:bodyPr>
            <a:normAutofit lnSpcReduction="10000"/>
          </a:bodyPr>
          <a:lstStyle/>
          <a:p>
            <a:r>
              <a:rPr dirty="0" err="1"/>
              <a:t>Այս</a:t>
            </a:r>
            <a:r>
              <a:rPr dirty="0"/>
              <a:t> </a:t>
            </a:r>
            <a:r>
              <a:rPr dirty="0" err="1"/>
              <a:t>աշխատանքի</a:t>
            </a:r>
            <a:r>
              <a:rPr dirty="0"/>
              <a:t> </a:t>
            </a:r>
            <a:r>
              <a:rPr dirty="0" err="1"/>
              <a:t>թեման</a:t>
            </a:r>
            <a:r>
              <a:rPr dirty="0"/>
              <a:t> է </a:t>
            </a:r>
            <a:r>
              <a:rPr dirty="0" err="1"/>
              <a:t>տների</a:t>
            </a:r>
            <a:r>
              <a:rPr dirty="0"/>
              <a:t> </a:t>
            </a:r>
            <a:r>
              <a:rPr dirty="0" err="1"/>
              <a:t>գների</a:t>
            </a:r>
            <a:r>
              <a:rPr dirty="0"/>
              <a:t> </a:t>
            </a:r>
            <a:r>
              <a:rPr dirty="0" err="1"/>
              <a:t>կանխատեսումը</a:t>
            </a:r>
            <a:r>
              <a:rPr dirty="0"/>
              <a:t>՝ </a:t>
            </a:r>
            <a:r>
              <a:rPr dirty="0" err="1"/>
              <a:t>մեքենայական</a:t>
            </a:r>
            <a:r>
              <a:rPr dirty="0"/>
              <a:t> </a:t>
            </a:r>
            <a:r>
              <a:rPr dirty="0" err="1"/>
              <a:t>ուսուցման</a:t>
            </a:r>
            <a:r>
              <a:rPr dirty="0"/>
              <a:t>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ռեգրեսիայի</a:t>
            </a:r>
            <a:r>
              <a:rPr dirty="0"/>
              <a:t> </a:t>
            </a:r>
            <a:r>
              <a:rPr dirty="0" err="1"/>
              <a:t>կարգավորված</a:t>
            </a:r>
            <a:r>
              <a:rPr dirty="0"/>
              <a:t> </a:t>
            </a:r>
            <a:r>
              <a:rPr dirty="0" err="1"/>
              <a:t>մոդելների</a:t>
            </a:r>
            <a:r>
              <a:rPr dirty="0"/>
              <a:t> </a:t>
            </a:r>
            <a:r>
              <a:rPr dirty="0" err="1"/>
              <a:t>օգնությամբ</a:t>
            </a:r>
            <a:r>
              <a:rPr dirty="0"/>
              <a:t>։ </a:t>
            </a:r>
            <a:r>
              <a:rPr dirty="0" err="1"/>
              <a:t>Որպես</a:t>
            </a:r>
            <a:r>
              <a:rPr dirty="0"/>
              <a:t>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աղբյուր</a:t>
            </a:r>
            <a:r>
              <a:rPr dirty="0"/>
              <a:t> </a:t>
            </a:r>
            <a:r>
              <a:rPr dirty="0" err="1"/>
              <a:t>օգտագործվում</a:t>
            </a:r>
            <a:r>
              <a:rPr dirty="0"/>
              <a:t> է Boston Housing </a:t>
            </a:r>
            <a:r>
              <a:rPr dirty="0" err="1"/>
              <a:t>դասական</a:t>
            </a:r>
            <a:r>
              <a:rPr dirty="0"/>
              <a:t> dataset-ը, </a:t>
            </a:r>
            <a:r>
              <a:rPr dirty="0" err="1"/>
              <a:t>որն</a:t>
            </a:r>
            <a:r>
              <a:rPr dirty="0"/>
              <a:t> </a:t>
            </a:r>
            <a:r>
              <a:rPr dirty="0" err="1"/>
              <a:t>ընդգրկում</a:t>
            </a:r>
            <a:r>
              <a:rPr dirty="0"/>
              <a:t> է </a:t>
            </a:r>
            <a:r>
              <a:rPr dirty="0" err="1"/>
              <a:t>Բոստոնի</a:t>
            </a:r>
            <a:r>
              <a:rPr dirty="0"/>
              <a:t> </a:t>
            </a:r>
            <a:r>
              <a:rPr dirty="0" err="1"/>
              <a:t>տարբեր</a:t>
            </a:r>
            <a:r>
              <a:rPr dirty="0"/>
              <a:t> </a:t>
            </a:r>
            <a:r>
              <a:rPr dirty="0" err="1"/>
              <a:t>շրջանների</a:t>
            </a:r>
            <a:r>
              <a:rPr dirty="0"/>
              <a:t> </a:t>
            </a:r>
            <a:r>
              <a:rPr dirty="0" err="1"/>
              <a:t>բնակարանների</a:t>
            </a:r>
            <a:r>
              <a:rPr dirty="0"/>
              <a:t> </a:t>
            </a:r>
            <a:r>
              <a:rPr dirty="0" err="1"/>
              <a:t>գների</a:t>
            </a:r>
            <a:r>
              <a:rPr dirty="0"/>
              <a:t> և </a:t>
            </a:r>
            <a:r>
              <a:rPr dirty="0" err="1"/>
              <a:t>միջավայրի</a:t>
            </a:r>
            <a:r>
              <a:rPr dirty="0"/>
              <a:t> </a:t>
            </a:r>
            <a:r>
              <a:rPr dirty="0" err="1"/>
              <a:t>սոցիալ-տնտեսական</a:t>
            </a:r>
            <a:r>
              <a:rPr dirty="0"/>
              <a:t> </a:t>
            </a:r>
            <a:r>
              <a:rPr dirty="0" err="1"/>
              <a:t>ու</a:t>
            </a:r>
            <a:r>
              <a:rPr dirty="0"/>
              <a:t> </a:t>
            </a:r>
            <a:r>
              <a:rPr dirty="0" err="1"/>
              <a:t>բնապահպանական</a:t>
            </a:r>
            <a:r>
              <a:rPr dirty="0"/>
              <a:t> </a:t>
            </a:r>
            <a:r>
              <a:rPr dirty="0" err="1"/>
              <a:t>բնութագրերը</a:t>
            </a:r>
            <a:r>
              <a:rPr dirty="0"/>
              <a:t>։ </a:t>
            </a:r>
            <a:r>
              <a:rPr dirty="0" err="1"/>
              <a:t>Մեքենայական</a:t>
            </a:r>
            <a:r>
              <a:rPr dirty="0"/>
              <a:t> </a:t>
            </a:r>
            <a:r>
              <a:rPr dirty="0" err="1"/>
              <a:t>ուսուցումը</a:t>
            </a:r>
            <a:r>
              <a:rPr dirty="0"/>
              <a:t> </a:t>
            </a:r>
            <a:r>
              <a:rPr dirty="0" err="1"/>
              <a:t>այստեղ</a:t>
            </a:r>
            <a:r>
              <a:rPr dirty="0"/>
              <a:t> </a:t>
            </a:r>
            <a:r>
              <a:rPr dirty="0" err="1"/>
              <a:t>կիրառվում</a:t>
            </a:r>
            <a:r>
              <a:rPr dirty="0"/>
              <a:t> է </a:t>
            </a:r>
            <a:r>
              <a:rPr dirty="0" err="1"/>
              <a:t>որպես</a:t>
            </a:r>
            <a:r>
              <a:rPr dirty="0"/>
              <a:t> </a:t>
            </a:r>
            <a:r>
              <a:rPr dirty="0" err="1"/>
              <a:t>գործիք</a:t>
            </a:r>
            <a:r>
              <a:rPr dirty="0"/>
              <a:t>՝ </a:t>
            </a:r>
            <a:r>
              <a:rPr dirty="0" err="1"/>
              <a:t>պատմական</a:t>
            </a:r>
            <a:r>
              <a:rPr dirty="0"/>
              <a:t>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հիման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 </a:t>
            </a:r>
            <a:r>
              <a:rPr dirty="0" err="1"/>
              <a:t>գտնելու</a:t>
            </a:r>
            <a:r>
              <a:rPr dirty="0"/>
              <a:t> </a:t>
            </a:r>
            <a:r>
              <a:rPr dirty="0" err="1"/>
              <a:t>օրինաչափություններ</a:t>
            </a:r>
            <a:r>
              <a:rPr dirty="0"/>
              <a:t> և </a:t>
            </a:r>
            <a:r>
              <a:rPr dirty="0" err="1"/>
              <a:t>դրանցով</a:t>
            </a:r>
            <a:r>
              <a:rPr dirty="0"/>
              <a:t> </a:t>
            </a:r>
            <a:r>
              <a:rPr dirty="0" err="1"/>
              <a:t>կանխատեսելու</a:t>
            </a:r>
            <a:r>
              <a:rPr dirty="0"/>
              <a:t> MEDV </a:t>
            </a:r>
            <a:r>
              <a:rPr dirty="0" err="1"/>
              <a:t>ցուցանիշը</a:t>
            </a:r>
            <a:r>
              <a:rPr dirty="0"/>
              <a:t>՝ </a:t>
            </a:r>
            <a:r>
              <a:rPr dirty="0" err="1"/>
              <a:t>տան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արժեքը</a:t>
            </a:r>
            <a:r>
              <a:rPr dirty="0"/>
              <a:t> </a:t>
            </a:r>
            <a:r>
              <a:rPr dirty="0" err="1"/>
              <a:t>հազար</a:t>
            </a:r>
            <a:r>
              <a:rPr dirty="0"/>
              <a:t> </a:t>
            </a:r>
            <a:r>
              <a:rPr dirty="0" err="1"/>
              <a:t>դոլարներով</a:t>
            </a:r>
            <a:r>
              <a:rPr dirty="0"/>
              <a:t>։ </a:t>
            </a:r>
            <a:r>
              <a:rPr dirty="0" err="1"/>
              <a:t>Թեման</a:t>
            </a:r>
            <a:r>
              <a:rPr dirty="0"/>
              <a:t> </a:t>
            </a:r>
            <a:r>
              <a:rPr dirty="0" err="1"/>
              <a:t>գործնական</a:t>
            </a:r>
            <a:r>
              <a:rPr dirty="0"/>
              <a:t> </a:t>
            </a:r>
            <a:r>
              <a:rPr dirty="0" err="1"/>
              <a:t>մեծ</a:t>
            </a:r>
            <a:r>
              <a:rPr dirty="0"/>
              <a:t> </a:t>
            </a:r>
            <a:r>
              <a:rPr dirty="0" err="1"/>
              <a:t>նշանակություն</a:t>
            </a:r>
            <a:r>
              <a:rPr dirty="0"/>
              <a:t> </a:t>
            </a:r>
            <a:r>
              <a:rPr dirty="0" err="1"/>
              <a:t>ունի</a:t>
            </a:r>
            <a:r>
              <a:rPr dirty="0"/>
              <a:t>, </a:t>
            </a:r>
            <a:r>
              <a:rPr dirty="0" err="1"/>
              <a:t>քանի</a:t>
            </a:r>
            <a:r>
              <a:rPr dirty="0"/>
              <a:t>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անշարժ</a:t>
            </a:r>
            <a:r>
              <a:rPr dirty="0"/>
              <a:t> </a:t>
            </a:r>
            <a:r>
              <a:rPr dirty="0" err="1"/>
              <a:t>գույքի</a:t>
            </a:r>
            <a:r>
              <a:rPr dirty="0"/>
              <a:t> </a:t>
            </a:r>
            <a:r>
              <a:rPr dirty="0" err="1"/>
              <a:t>շուկան</a:t>
            </a:r>
            <a:r>
              <a:rPr dirty="0"/>
              <a:t> </a:t>
            </a:r>
            <a:r>
              <a:rPr dirty="0" err="1"/>
              <a:t>տնտեսության</a:t>
            </a:r>
            <a:r>
              <a:rPr dirty="0"/>
              <a:t> </a:t>
            </a:r>
            <a:r>
              <a:rPr dirty="0" err="1"/>
              <a:t>կարևորագույն</a:t>
            </a:r>
            <a:r>
              <a:rPr dirty="0"/>
              <a:t>, </a:t>
            </a:r>
            <a:r>
              <a:rPr dirty="0" err="1"/>
              <a:t>դինամիկ</a:t>
            </a:r>
            <a:r>
              <a:rPr dirty="0"/>
              <a:t> և </a:t>
            </a:r>
            <a:r>
              <a:rPr dirty="0" err="1"/>
              <a:t>զգայուն</a:t>
            </a:r>
            <a:r>
              <a:rPr dirty="0"/>
              <a:t> </a:t>
            </a:r>
            <a:r>
              <a:rPr dirty="0" err="1"/>
              <a:t>ոլորտներից</a:t>
            </a:r>
            <a:r>
              <a:rPr dirty="0"/>
              <a:t> է, </a:t>
            </a:r>
            <a:r>
              <a:rPr dirty="0" err="1"/>
              <a:t>որտեղ</a:t>
            </a:r>
            <a:r>
              <a:rPr dirty="0"/>
              <a:t> </a:t>
            </a:r>
            <a:r>
              <a:rPr dirty="0" err="1"/>
              <a:t>որոշումների</a:t>
            </a:r>
            <a:r>
              <a:rPr dirty="0"/>
              <a:t> </a:t>
            </a:r>
            <a:r>
              <a:rPr dirty="0" err="1"/>
              <a:t>մեծ</a:t>
            </a:r>
            <a:r>
              <a:rPr dirty="0"/>
              <a:t> </a:t>
            </a:r>
            <a:r>
              <a:rPr dirty="0" err="1"/>
              <a:t>մասը</a:t>
            </a:r>
            <a:r>
              <a:rPr dirty="0"/>
              <a:t> </a:t>
            </a:r>
            <a:r>
              <a:rPr dirty="0" err="1"/>
              <a:t>հիմնված</a:t>
            </a:r>
            <a:r>
              <a:rPr dirty="0"/>
              <a:t> է </a:t>
            </a:r>
            <a:r>
              <a:rPr dirty="0" err="1"/>
              <a:t>ճիշտ</a:t>
            </a:r>
            <a:r>
              <a:rPr dirty="0"/>
              <a:t> և </a:t>
            </a:r>
            <a:r>
              <a:rPr dirty="0" err="1"/>
              <a:t>ժամանակին</a:t>
            </a:r>
            <a:r>
              <a:rPr dirty="0"/>
              <a:t> </a:t>
            </a:r>
            <a:r>
              <a:rPr dirty="0" err="1"/>
              <a:t>արված</a:t>
            </a:r>
            <a:r>
              <a:rPr dirty="0"/>
              <a:t> </a:t>
            </a:r>
            <a:r>
              <a:rPr dirty="0" err="1"/>
              <a:t>գների</a:t>
            </a:r>
            <a:r>
              <a:rPr dirty="0"/>
              <a:t> </a:t>
            </a:r>
            <a:r>
              <a:rPr dirty="0" err="1"/>
              <a:t>գնահատման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Խնդրի դրվածք, օբյեկտ, առարկա, նպատակ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2875" y="2245259"/>
            <a:ext cx="6446068" cy="4146488"/>
          </a:xfrm>
        </p:spPr>
        <p:txBody>
          <a:bodyPr>
            <a:normAutofit lnSpcReduction="10000"/>
          </a:bodyPr>
          <a:lstStyle/>
          <a:p>
            <a:r>
              <a:rPr dirty="0" err="1"/>
              <a:t>Խնդիրը</a:t>
            </a:r>
            <a:r>
              <a:rPr dirty="0"/>
              <a:t> </a:t>
            </a:r>
            <a:r>
              <a:rPr dirty="0" err="1"/>
              <a:t>ձևակերպվում</a:t>
            </a:r>
            <a:r>
              <a:rPr dirty="0"/>
              <a:t> է </a:t>
            </a:r>
            <a:r>
              <a:rPr dirty="0" err="1"/>
              <a:t>որպես</a:t>
            </a:r>
            <a:r>
              <a:rPr dirty="0"/>
              <a:t> </a:t>
            </a:r>
            <a:r>
              <a:rPr dirty="0" err="1"/>
              <a:t>վերահսկվող</a:t>
            </a:r>
            <a:r>
              <a:rPr dirty="0"/>
              <a:t> </a:t>
            </a:r>
            <a:r>
              <a:rPr dirty="0" err="1"/>
              <a:t>ուսուցման</a:t>
            </a:r>
            <a:r>
              <a:rPr dirty="0"/>
              <a:t> </a:t>
            </a:r>
            <a:r>
              <a:rPr dirty="0" err="1"/>
              <a:t>ռեգրեսիոն</a:t>
            </a:r>
            <a:r>
              <a:rPr dirty="0"/>
              <a:t> </a:t>
            </a:r>
            <a:r>
              <a:rPr dirty="0" err="1"/>
              <a:t>խնդիր</a:t>
            </a:r>
            <a:r>
              <a:rPr dirty="0"/>
              <a:t>՝ </a:t>
            </a:r>
            <a:r>
              <a:rPr dirty="0" err="1"/>
              <a:t>շարունակական</a:t>
            </a:r>
            <a:r>
              <a:rPr dirty="0"/>
              <a:t> </a:t>
            </a:r>
            <a:r>
              <a:rPr dirty="0" err="1"/>
              <a:t>թիրախ</a:t>
            </a:r>
            <a:r>
              <a:rPr dirty="0"/>
              <a:t> </a:t>
            </a:r>
            <a:r>
              <a:rPr dirty="0" err="1"/>
              <a:t>փոփոխականի</a:t>
            </a:r>
            <a:r>
              <a:rPr dirty="0"/>
              <a:t>՝ MEDV-ի </a:t>
            </a:r>
            <a:r>
              <a:rPr dirty="0" err="1"/>
              <a:t>կանխատեսմամբ</a:t>
            </a:r>
            <a:r>
              <a:rPr dirty="0"/>
              <a:t>։ </a:t>
            </a:r>
            <a:r>
              <a:rPr dirty="0" err="1"/>
              <a:t>Ուսումնասիրության</a:t>
            </a:r>
            <a:r>
              <a:rPr dirty="0"/>
              <a:t> </a:t>
            </a:r>
            <a:r>
              <a:rPr dirty="0" err="1"/>
              <a:t>օբյեկտն</a:t>
            </a:r>
            <a:r>
              <a:rPr dirty="0"/>
              <a:t> է </a:t>
            </a:r>
            <a:r>
              <a:rPr dirty="0" err="1"/>
              <a:t>Բոստոնի</a:t>
            </a:r>
            <a:r>
              <a:rPr dirty="0"/>
              <a:t> </a:t>
            </a:r>
            <a:r>
              <a:rPr dirty="0" err="1"/>
              <a:t>բնակարանային</a:t>
            </a:r>
            <a:r>
              <a:rPr dirty="0"/>
              <a:t> </a:t>
            </a:r>
            <a:r>
              <a:rPr dirty="0" err="1"/>
              <a:t>շուկան</a:t>
            </a:r>
            <a:r>
              <a:rPr dirty="0"/>
              <a:t> և </a:t>
            </a:r>
            <a:r>
              <a:rPr dirty="0" err="1"/>
              <a:t>դրա</a:t>
            </a:r>
            <a:r>
              <a:rPr dirty="0"/>
              <a:t> </a:t>
            </a:r>
            <a:r>
              <a:rPr dirty="0" err="1"/>
              <a:t>թվային</a:t>
            </a:r>
            <a:r>
              <a:rPr dirty="0"/>
              <a:t> </a:t>
            </a:r>
            <a:r>
              <a:rPr dirty="0" err="1"/>
              <a:t>հրամցումը</a:t>
            </a:r>
            <a:r>
              <a:rPr dirty="0"/>
              <a:t> Boston Housing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հավաքածուի</a:t>
            </a:r>
            <a:r>
              <a:rPr dirty="0"/>
              <a:t> </a:t>
            </a:r>
            <a:r>
              <a:rPr dirty="0" err="1"/>
              <a:t>միջոցով</a:t>
            </a:r>
            <a:r>
              <a:rPr dirty="0"/>
              <a:t>։ </a:t>
            </a:r>
            <a:r>
              <a:rPr dirty="0" err="1"/>
              <a:t>Ուսումնասիրության</a:t>
            </a:r>
            <a:r>
              <a:rPr dirty="0"/>
              <a:t> </a:t>
            </a:r>
            <a:r>
              <a:rPr dirty="0" err="1"/>
              <a:t>առարկան</a:t>
            </a:r>
            <a:r>
              <a:rPr dirty="0"/>
              <a:t> են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ռեգրեսիայի</a:t>
            </a:r>
            <a:r>
              <a:rPr dirty="0"/>
              <a:t> </a:t>
            </a:r>
            <a:r>
              <a:rPr dirty="0" err="1"/>
              <a:t>կարգավորված</a:t>
            </a:r>
            <a:r>
              <a:rPr dirty="0"/>
              <a:t> </a:t>
            </a:r>
            <a:r>
              <a:rPr dirty="0" err="1"/>
              <a:t>մոդելները</a:t>
            </a:r>
            <a:r>
              <a:rPr dirty="0"/>
              <a:t>՝ Ridge և Lasso, և </a:t>
            </a:r>
            <a:r>
              <a:rPr dirty="0" err="1"/>
              <a:t>դրանց</a:t>
            </a:r>
            <a:r>
              <a:rPr dirty="0"/>
              <a:t> </a:t>
            </a:r>
            <a:r>
              <a:rPr dirty="0" err="1"/>
              <a:t>կիրառումը</a:t>
            </a:r>
            <a:r>
              <a:rPr dirty="0"/>
              <a:t> </a:t>
            </a:r>
            <a:r>
              <a:rPr dirty="0" err="1"/>
              <a:t>տների</a:t>
            </a:r>
            <a:r>
              <a:rPr dirty="0"/>
              <a:t> </a:t>
            </a:r>
            <a:r>
              <a:rPr dirty="0" err="1"/>
              <a:t>գների</a:t>
            </a:r>
            <a:r>
              <a:rPr dirty="0"/>
              <a:t> </a:t>
            </a:r>
            <a:r>
              <a:rPr dirty="0" err="1"/>
              <a:t>կանխատեսման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։ </a:t>
            </a:r>
            <a:r>
              <a:rPr dirty="0" err="1"/>
              <a:t>Աշխատանքի</a:t>
            </a:r>
            <a:r>
              <a:rPr dirty="0"/>
              <a:t> </a:t>
            </a:r>
            <a:r>
              <a:rPr dirty="0" err="1"/>
              <a:t>հիմնական</a:t>
            </a:r>
            <a:r>
              <a:rPr dirty="0"/>
              <a:t> </a:t>
            </a:r>
            <a:r>
              <a:rPr dirty="0" err="1"/>
              <a:t>նպատակը</a:t>
            </a:r>
            <a:r>
              <a:rPr dirty="0"/>
              <a:t> </a:t>
            </a:r>
            <a:r>
              <a:rPr dirty="0" err="1"/>
              <a:t>կայանում</a:t>
            </a:r>
            <a:r>
              <a:rPr dirty="0"/>
              <a:t> է </a:t>
            </a:r>
            <a:r>
              <a:rPr dirty="0" err="1"/>
              <a:t>այն</a:t>
            </a:r>
            <a:r>
              <a:rPr dirty="0"/>
              <a:t> </a:t>
            </a:r>
            <a:r>
              <a:rPr dirty="0" err="1"/>
              <a:t>բանում</a:t>
            </a:r>
            <a:r>
              <a:rPr dirty="0"/>
              <a:t>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կառուցվեն</a:t>
            </a:r>
            <a:r>
              <a:rPr dirty="0"/>
              <a:t> և </a:t>
            </a:r>
            <a:r>
              <a:rPr dirty="0" err="1"/>
              <a:t>վերլուծվեն</a:t>
            </a:r>
            <a:r>
              <a:rPr dirty="0"/>
              <a:t> Ridge և Lasso </a:t>
            </a:r>
            <a:r>
              <a:rPr dirty="0" err="1"/>
              <a:t>մոդելներն</a:t>
            </a:r>
            <a:r>
              <a:rPr dirty="0"/>
              <a:t> </a:t>
            </a:r>
            <a:r>
              <a:rPr dirty="0" err="1"/>
              <a:t>այնպես</a:t>
            </a:r>
            <a:r>
              <a:rPr dirty="0"/>
              <a:t>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հնարավոր</a:t>
            </a:r>
            <a:r>
              <a:rPr dirty="0"/>
              <a:t> </a:t>
            </a:r>
            <a:r>
              <a:rPr dirty="0" err="1"/>
              <a:t>լինի</a:t>
            </a:r>
            <a:r>
              <a:rPr dirty="0"/>
              <a:t> </a:t>
            </a:r>
            <a:r>
              <a:rPr dirty="0" err="1"/>
              <a:t>ստանալ</a:t>
            </a:r>
            <a:r>
              <a:rPr dirty="0"/>
              <a:t> </a:t>
            </a:r>
            <a:r>
              <a:rPr dirty="0" err="1"/>
              <a:t>կայուն</a:t>
            </a:r>
            <a:r>
              <a:rPr dirty="0"/>
              <a:t>, generalizing և </a:t>
            </a:r>
            <a:r>
              <a:rPr dirty="0" err="1"/>
              <a:t>որոշումների</a:t>
            </a:r>
            <a:r>
              <a:rPr dirty="0"/>
              <a:t> </a:t>
            </a:r>
            <a:r>
              <a:rPr dirty="0" err="1"/>
              <a:t>կայացման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 </a:t>
            </a:r>
            <a:r>
              <a:rPr dirty="0" err="1"/>
              <a:t>կիրառելի</a:t>
            </a:r>
            <a:r>
              <a:rPr dirty="0"/>
              <a:t> </a:t>
            </a:r>
            <a:r>
              <a:rPr dirty="0" err="1"/>
              <a:t>կանխատեսումներ</a:t>
            </a:r>
            <a:r>
              <a:rPr dirty="0"/>
              <a:t>։ </a:t>
            </a:r>
            <a:r>
              <a:rPr dirty="0" err="1"/>
              <a:t>Լրացուցիչ</a:t>
            </a:r>
            <a:r>
              <a:rPr dirty="0"/>
              <a:t> </a:t>
            </a:r>
            <a:r>
              <a:rPr dirty="0" err="1"/>
              <a:t>նպատակ</a:t>
            </a:r>
            <a:r>
              <a:rPr dirty="0"/>
              <a:t> է </a:t>
            </a:r>
            <a:r>
              <a:rPr dirty="0" err="1"/>
              <a:t>հասկանալ</a:t>
            </a:r>
            <a:r>
              <a:rPr dirty="0"/>
              <a:t>, </a:t>
            </a:r>
            <a:r>
              <a:rPr dirty="0" err="1"/>
              <a:t>թե</a:t>
            </a:r>
            <a:r>
              <a:rPr dirty="0"/>
              <a:t>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հատկանիշներն</a:t>
            </a:r>
            <a:r>
              <a:rPr dirty="0"/>
              <a:t> են </a:t>
            </a:r>
            <a:r>
              <a:rPr dirty="0" err="1"/>
              <a:t>առավել</a:t>
            </a:r>
            <a:r>
              <a:rPr dirty="0"/>
              <a:t> </a:t>
            </a:r>
            <a:r>
              <a:rPr dirty="0" err="1"/>
              <a:t>ազդում</a:t>
            </a:r>
            <a:r>
              <a:rPr dirty="0"/>
              <a:t> </a:t>
            </a:r>
            <a:r>
              <a:rPr dirty="0" err="1"/>
              <a:t>գների</a:t>
            </a:r>
            <a:r>
              <a:rPr dirty="0"/>
              <a:t> </a:t>
            </a:r>
            <a:r>
              <a:rPr dirty="0" err="1"/>
              <a:t>ձևավորման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Ռեգրեսիայի խնդրի էությունը և կիրառությունները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448" y="2263366"/>
            <a:ext cx="6545655" cy="3992579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Ռեգրեսիայի</a:t>
            </a:r>
            <a:r>
              <a:rPr dirty="0"/>
              <a:t> </a:t>
            </a:r>
            <a:r>
              <a:rPr dirty="0" err="1"/>
              <a:t>խնդիրը</a:t>
            </a:r>
            <a:r>
              <a:rPr dirty="0"/>
              <a:t> </a:t>
            </a:r>
            <a:r>
              <a:rPr dirty="0" err="1"/>
              <a:t>նախատեսված</a:t>
            </a:r>
            <a:r>
              <a:rPr dirty="0"/>
              <a:t> է </a:t>
            </a:r>
            <a:r>
              <a:rPr dirty="0" err="1"/>
              <a:t>շարունակական</a:t>
            </a:r>
            <a:r>
              <a:rPr dirty="0"/>
              <a:t> </a:t>
            </a:r>
            <a:r>
              <a:rPr dirty="0" err="1"/>
              <a:t>մեծության</a:t>
            </a:r>
            <a:r>
              <a:rPr dirty="0"/>
              <a:t> </a:t>
            </a:r>
            <a:r>
              <a:rPr dirty="0" err="1"/>
              <a:t>կանխատեսման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՝ </a:t>
            </a:r>
            <a:r>
              <a:rPr dirty="0" err="1"/>
              <a:t>հիմնվելով</a:t>
            </a:r>
            <a:r>
              <a:rPr dirty="0"/>
              <a:t> </a:t>
            </a:r>
            <a:r>
              <a:rPr dirty="0" err="1"/>
              <a:t>մուտքային</a:t>
            </a:r>
            <a:r>
              <a:rPr dirty="0"/>
              <a:t> </a:t>
            </a:r>
            <a:r>
              <a:rPr dirty="0" err="1"/>
              <a:t>հատկանիշների</a:t>
            </a:r>
            <a:r>
              <a:rPr dirty="0"/>
              <a:t> </a:t>
            </a:r>
            <a:r>
              <a:rPr dirty="0" err="1"/>
              <a:t>վեկտորի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։ </a:t>
            </a:r>
            <a:r>
              <a:rPr dirty="0" err="1"/>
              <a:t>Մաթեմատիկորեն</a:t>
            </a:r>
            <a:r>
              <a:rPr dirty="0"/>
              <a:t> </a:t>
            </a:r>
            <a:r>
              <a:rPr dirty="0" err="1"/>
              <a:t>ենթադրվում</a:t>
            </a:r>
            <a:r>
              <a:rPr dirty="0"/>
              <a:t> է,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գոյություն</a:t>
            </a:r>
            <a:r>
              <a:rPr dirty="0"/>
              <a:t> </a:t>
            </a:r>
            <a:r>
              <a:rPr dirty="0" err="1"/>
              <a:t>ունի</a:t>
            </a:r>
            <a:r>
              <a:rPr dirty="0"/>
              <a:t> </a:t>
            </a:r>
            <a:r>
              <a:rPr dirty="0" err="1"/>
              <a:t>կապ</a:t>
            </a:r>
            <a:r>
              <a:rPr dirty="0"/>
              <a:t> X=(x₁,…,xₙ) </a:t>
            </a:r>
            <a:r>
              <a:rPr dirty="0" err="1"/>
              <a:t>հատկանիշների</a:t>
            </a:r>
            <a:r>
              <a:rPr dirty="0"/>
              <a:t> և y </a:t>
            </a:r>
            <a:r>
              <a:rPr dirty="0" err="1"/>
              <a:t>ելքային</a:t>
            </a:r>
            <a:r>
              <a:rPr dirty="0"/>
              <a:t> </a:t>
            </a:r>
            <a:r>
              <a:rPr dirty="0" err="1"/>
              <a:t>փոփոխականի</a:t>
            </a:r>
            <a:r>
              <a:rPr dirty="0"/>
              <a:t> </a:t>
            </a:r>
            <a:r>
              <a:rPr dirty="0" err="1"/>
              <a:t>միջև</a:t>
            </a:r>
            <a:r>
              <a:rPr dirty="0"/>
              <a:t>, </a:t>
            </a:r>
            <a:r>
              <a:rPr dirty="0" err="1"/>
              <a:t>որը</a:t>
            </a:r>
            <a:r>
              <a:rPr dirty="0"/>
              <a:t> </a:t>
            </a:r>
            <a:r>
              <a:rPr dirty="0" err="1"/>
              <a:t>մոդելը</a:t>
            </a:r>
            <a:r>
              <a:rPr dirty="0"/>
              <a:t> </a:t>
            </a:r>
            <a:r>
              <a:rPr dirty="0" err="1"/>
              <a:t>մոտավորում</a:t>
            </a:r>
            <a:r>
              <a:rPr dirty="0"/>
              <a:t> է f(X) </a:t>
            </a:r>
            <a:r>
              <a:rPr dirty="0" err="1"/>
              <a:t>ֆունկցիայով</a:t>
            </a:r>
            <a:r>
              <a:rPr dirty="0"/>
              <a:t>։ </a:t>
            </a:r>
            <a:r>
              <a:rPr dirty="0" err="1"/>
              <a:t>Գործնականում</a:t>
            </a:r>
            <a:r>
              <a:rPr dirty="0"/>
              <a:t> </a:t>
            </a:r>
            <a:r>
              <a:rPr dirty="0" err="1"/>
              <a:t>ռեգրեսիան</a:t>
            </a:r>
            <a:r>
              <a:rPr dirty="0"/>
              <a:t> </a:t>
            </a:r>
            <a:r>
              <a:rPr dirty="0" err="1"/>
              <a:t>լայնորեն</a:t>
            </a:r>
            <a:r>
              <a:rPr dirty="0"/>
              <a:t> </a:t>
            </a:r>
            <a:r>
              <a:rPr dirty="0" err="1"/>
              <a:t>կիրառվում</a:t>
            </a:r>
            <a:r>
              <a:rPr dirty="0"/>
              <a:t> է </a:t>
            </a:r>
            <a:r>
              <a:rPr dirty="0" err="1"/>
              <a:t>տնտեսագիտության</a:t>
            </a:r>
            <a:r>
              <a:rPr dirty="0"/>
              <a:t>, </a:t>
            </a:r>
            <a:r>
              <a:rPr dirty="0" err="1"/>
              <a:t>ֆինանսների</a:t>
            </a:r>
            <a:r>
              <a:rPr dirty="0"/>
              <a:t>, </a:t>
            </a:r>
            <a:r>
              <a:rPr dirty="0" err="1"/>
              <a:t>բժշկության</a:t>
            </a:r>
            <a:r>
              <a:rPr dirty="0"/>
              <a:t>, </a:t>
            </a:r>
            <a:r>
              <a:rPr dirty="0" err="1"/>
              <a:t>շինարարության</a:t>
            </a:r>
            <a:r>
              <a:rPr dirty="0"/>
              <a:t>, </a:t>
            </a:r>
            <a:r>
              <a:rPr dirty="0" err="1"/>
              <a:t>անշարժ</a:t>
            </a:r>
            <a:r>
              <a:rPr dirty="0"/>
              <a:t> </a:t>
            </a:r>
            <a:r>
              <a:rPr dirty="0" err="1"/>
              <a:t>գույքի</a:t>
            </a:r>
            <a:r>
              <a:rPr dirty="0"/>
              <a:t> և </a:t>
            </a:r>
            <a:r>
              <a:rPr dirty="0" err="1"/>
              <a:t>բնապահպանության</a:t>
            </a:r>
            <a:r>
              <a:rPr dirty="0"/>
              <a:t> </a:t>
            </a:r>
            <a:r>
              <a:rPr dirty="0" err="1"/>
              <a:t>ոլորտներում</a:t>
            </a:r>
            <a:r>
              <a:rPr dirty="0"/>
              <a:t>։ </a:t>
            </a:r>
            <a:r>
              <a:rPr dirty="0" err="1"/>
              <a:t>Օրինակ</a:t>
            </a:r>
            <a:r>
              <a:rPr dirty="0"/>
              <a:t>՝ </a:t>
            </a:r>
            <a:r>
              <a:rPr dirty="0" err="1"/>
              <a:t>կարող</a:t>
            </a:r>
            <a:r>
              <a:rPr dirty="0"/>
              <a:t> </a:t>
            </a:r>
            <a:r>
              <a:rPr dirty="0" err="1"/>
              <a:t>ենք</a:t>
            </a:r>
            <a:r>
              <a:rPr dirty="0"/>
              <a:t> </a:t>
            </a:r>
            <a:r>
              <a:rPr dirty="0" err="1"/>
              <a:t>կանխատեսել</a:t>
            </a:r>
            <a:r>
              <a:rPr dirty="0"/>
              <a:t> </a:t>
            </a:r>
            <a:r>
              <a:rPr dirty="0" err="1"/>
              <a:t>գներ</a:t>
            </a:r>
            <a:r>
              <a:rPr dirty="0"/>
              <a:t>, </a:t>
            </a:r>
            <a:r>
              <a:rPr dirty="0" err="1"/>
              <a:t>պահանջարկ</a:t>
            </a:r>
            <a:r>
              <a:rPr dirty="0"/>
              <a:t>, </a:t>
            </a:r>
            <a:r>
              <a:rPr dirty="0" err="1"/>
              <a:t>եկամուտ</a:t>
            </a:r>
            <a:r>
              <a:rPr dirty="0"/>
              <a:t>, </a:t>
            </a:r>
            <a:r>
              <a:rPr dirty="0" err="1"/>
              <a:t>աղտոտվածության</a:t>
            </a:r>
            <a:r>
              <a:rPr dirty="0"/>
              <a:t> </a:t>
            </a:r>
            <a:r>
              <a:rPr dirty="0" err="1"/>
              <a:t>մակարդակ</a:t>
            </a:r>
            <a:r>
              <a:rPr dirty="0"/>
              <a:t> </a:t>
            </a:r>
            <a:r>
              <a:rPr dirty="0" err="1"/>
              <a:t>կամ</a:t>
            </a:r>
            <a:r>
              <a:rPr dirty="0"/>
              <a:t> </a:t>
            </a:r>
            <a:r>
              <a:rPr dirty="0" err="1"/>
              <a:t>հիվանդության</a:t>
            </a:r>
            <a:r>
              <a:rPr dirty="0"/>
              <a:t> </a:t>
            </a:r>
            <a:r>
              <a:rPr dirty="0" err="1"/>
              <a:t>զարգացման</a:t>
            </a:r>
            <a:r>
              <a:rPr dirty="0"/>
              <a:t> </a:t>
            </a:r>
            <a:r>
              <a:rPr dirty="0" err="1"/>
              <a:t>ցուցանիշ</a:t>
            </a:r>
            <a:r>
              <a:rPr dirty="0"/>
              <a:t>։ </a:t>
            </a:r>
            <a:r>
              <a:rPr dirty="0" err="1"/>
              <a:t>Մեր</a:t>
            </a:r>
            <a:r>
              <a:rPr dirty="0"/>
              <a:t> </a:t>
            </a:r>
            <a:r>
              <a:rPr dirty="0" err="1"/>
              <a:t>դեպքում</a:t>
            </a:r>
            <a:r>
              <a:rPr dirty="0"/>
              <a:t> </a:t>
            </a:r>
            <a:r>
              <a:rPr dirty="0" err="1"/>
              <a:t>ռեգրեսիան</a:t>
            </a:r>
            <a:r>
              <a:rPr dirty="0"/>
              <a:t> </a:t>
            </a:r>
            <a:r>
              <a:rPr dirty="0" err="1"/>
              <a:t>օգտագործվում</a:t>
            </a:r>
            <a:r>
              <a:rPr dirty="0"/>
              <a:t> է՝ </a:t>
            </a:r>
            <a:r>
              <a:rPr dirty="0" err="1"/>
              <a:t>գնահատելու</a:t>
            </a:r>
            <a:r>
              <a:rPr dirty="0"/>
              <a:t>, </a:t>
            </a:r>
            <a:r>
              <a:rPr dirty="0" err="1"/>
              <a:t>թե</a:t>
            </a:r>
            <a:r>
              <a:rPr dirty="0"/>
              <a:t> </a:t>
            </a:r>
            <a:r>
              <a:rPr dirty="0" err="1"/>
              <a:t>տվյալ</a:t>
            </a:r>
            <a:r>
              <a:rPr dirty="0"/>
              <a:t> </a:t>
            </a:r>
            <a:r>
              <a:rPr dirty="0" err="1"/>
              <a:t>շրջանի</a:t>
            </a:r>
            <a:r>
              <a:rPr dirty="0"/>
              <a:t> </a:t>
            </a:r>
            <a:r>
              <a:rPr dirty="0" err="1"/>
              <a:t>սոցիալ-տնտեսական</a:t>
            </a:r>
            <a:r>
              <a:rPr dirty="0"/>
              <a:t> և </a:t>
            </a:r>
            <a:r>
              <a:rPr dirty="0" err="1"/>
              <a:t>բնաբանական</a:t>
            </a:r>
            <a:r>
              <a:rPr dirty="0"/>
              <a:t> </a:t>
            </a:r>
            <a:r>
              <a:rPr dirty="0" err="1"/>
              <a:t>պայմանների</a:t>
            </a:r>
            <a:r>
              <a:rPr dirty="0"/>
              <a:t> </a:t>
            </a:r>
            <a:r>
              <a:rPr dirty="0" err="1"/>
              <a:t>հիման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 </a:t>
            </a:r>
            <a:r>
              <a:rPr dirty="0" err="1"/>
              <a:t>ինչ</a:t>
            </a:r>
            <a:r>
              <a:rPr dirty="0"/>
              <a:t> </a:t>
            </a:r>
            <a:r>
              <a:rPr dirty="0" err="1"/>
              <a:t>արժեք</a:t>
            </a:r>
            <a:r>
              <a:rPr dirty="0"/>
              <a:t> </a:t>
            </a:r>
            <a:r>
              <a:rPr dirty="0" err="1"/>
              <a:t>կարող</a:t>
            </a:r>
            <a:r>
              <a:rPr dirty="0"/>
              <a:t> է </a:t>
            </a:r>
            <a:r>
              <a:rPr dirty="0" err="1"/>
              <a:t>ունենալ</a:t>
            </a:r>
            <a:r>
              <a:rPr dirty="0"/>
              <a:t> </a:t>
            </a:r>
            <a:r>
              <a:rPr dirty="0" err="1"/>
              <a:t>այնտեղի</a:t>
            </a:r>
            <a:r>
              <a:rPr dirty="0"/>
              <a:t> </a:t>
            </a:r>
            <a:r>
              <a:rPr dirty="0" err="1"/>
              <a:t>բնակարանների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գինը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Գծային ռեգրեսիա և OLS սահմանափակումներ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252363" cy="3554525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ռեգրեսիան</a:t>
            </a:r>
            <a:r>
              <a:rPr dirty="0"/>
              <a:t> </a:t>
            </a:r>
            <a:r>
              <a:rPr dirty="0" err="1"/>
              <a:t>ենթադրում</a:t>
            </a:r>
            <a:r>
              <a:rPr dirty="0"/>
              <a:t> է,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ելքային</a:t>
            </a:r>
            <a:r>
              <a:rPr dirty="0"/>
              <a:t> y </a:t>
            </a:r>
            <a:r>
              <a:rPr dirty="0" err="1"/>
              <a:t>արժեքը</a:t>
            </a:r>
            <a:r>
              <a:rPr dirty="0"/>
              <a:t>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կերպով</a:t>
            </a:r>
            <a:r>
              <a:rPr dirty="0"/>
              <a:t> է </a:t>
            </a:r>
            <a:r>
              <a:rPr dirty="0" err="1"/>
              <a:t>կախված</a:t>
            </a:r>
            <a:r>
              <a:rPr dirty="0"/>
              <a:t> </a:t>
            </a:r>
            <a:r>
              <a:rPr dirty="0" err="1"/>
              <a:t>մուտքային</a:t>
            </a:r>
            <a:r>
              <a:rPr dirty="0"/>
              <a:t> </a:t>
            </a:r>
            <a:r>
              <a:rPr dirty="0" err="1"/>
              <a:t>հատկանիշներից</a:t>
            </a:r>
            <a:r>
              <a:rPr dirty="0"/>
              <a:t>․ ŷ = w₀ + </a:t>
            </a:r>
            <a:r>
              <a:rPr dirty="0" err="1"/>
              <a:t>w₁x</a:t>
            </a:r>
            <a:r>
              <a:rPr dirty="0"/>
              <a:t>₁ + … + </a:t>
            </a:r>
            <a:r>
              <a:rPr dirty="0" err="1"/>
              <a:t>wₙx</a:t>
            </a:r>
            <a:r>
              <a:rPr dirty="0"/>
              <a:t>ₙ։ </a:t>
            </a:r>
            <a:r>
              <a:rPr dirty="0" err="1"/>
              <a:t>Գործակիցները</a:t>
            </a:r>
            <a:r>
              <a:rPr dirty="0"/>
              <a:t> </a:t>
            </a:r>
            <a:r>
              <a:rPr dirty="0" err="1"/>
              <a:t>սովորաբար</a:t>
            </a:r>
            <a:r>
              <a:rPr dirty="0"/>
              <a:t> </a:t>
            </a:r>
            <a:r>
              <a:rPr dirty="0" err="1"/>
              <a:t>գնահատվում</a:t>
            </a:r>
            <a:r>
              <a:rPr dirty="0"/>
              <a:t> են </a:t>
            </a:r>
            <a:r>
              <a:rPr dirty="0" err="1"/>
              <a:t>նվազագույն</a:t>
            </a:r>
            <a:r>
              <a:rPr dirty="0"/>
              <a:t> </a:t>
            </a:r>
            <a:r>
              <a:rPr dirty="0" err="1"/>
              <a:t>քառակուսիների</a:t>
            </a:r>
            <a:r>
              <a:rPr dirty="0"/>
              <a:t> </a:t>
            </a:r>
            <a:r>
              <a:rPr dirty="0" err="1"/>
              <a:t>մեթոդով</a:t>
            </a:r>
            <a:r>
              <a:rPr dirty="0"/>
              <a:t> (Ordinary Least Squares), </a:t>
            </a:r>
            <a:r>
              <a:rPr dirty="0" err="1"/>
              <a:t>որի</a:t>
            </a:r>
            <a:r>
              <a:rPr dirty="0"/>
              <a:t> </a:t>
            </a:r>
            <a:r>
              <a:rPr dirty="0" err="1"/>
              <a:t>նպատակը</a:t>
            </a:r>
            <a:r>
              <a:rPr dirty="0"/>
              <a:t> </a:t>
            </a:r>
            <a:r>
              <a:rPr dirty="0" err="1"/>
              <a:t>կանխատեսման</a:t>
            </a:r>
            <a:r>
              <a:rPr dirty="0"/>
              <a:t> </a:t>
            </a:r>
            <a:r>
              <a:rPr dirty="0" err="1"/>
              <a:t>սխալների</a:t>
            </a:r>
            <a:r>
              <a:rPr dirty="0"/>
              <a:t> </a:t>
            </a:r>
            <a:r>
              <a:rPr dirty="0" err="1"/>
              <a:t>քառակուսիների</a:t>
            </a:r>
            <a:r>
              <a:rPr dirty="0"/>
              <a:t> </a:t>
            </a:r>
            <a:r>
              <a:rPr dirty="0" err="1"/>
              <a:t>միջինը</a:t>
            </a:r>
            <a:r>
              <a:rPr dirty="0"/>
              <a:t> </a:t>
            </a:r>
            <a:r>
              <a:rPr dirty="0" err="1"/>
              <a:t>նվազեցնելն</a:t>
            </a:r>
            <a:r>
              <a:rPr dirty="0"/>
              <a:t> է։ </a:t>
            </a:r>
            <a:r>
              <a:rPr dirty="0" err="1"/>
              <a:t>Այս</a:t>
            </a:r>
            <a:r>
              <a:rPr dirty="0"/>
              <a:t> </a:t>
            </a:r>
            <a:r>
              <a:rPr dirty="0" err="1"/>
              <a:t>մոտեցումը</a:t>
            </a:r>
            <a:r>
              <a:rPr dirty="0"/>
              <a:t> </a:t>
            </a:r>
            <a:r>
              <a:rPr dirty="0" err="1"/>
              <a:t>պարզ</a:t>
            </a:r>
            <a:r>
              <a:rPr dirty="0"/>
              <a:t> և </a:t>
            </a:r>
            <a:r>
              <a:rPr dirty="0" err="1"/>
              <a:t>ինտուիտիվ</a:t>
            </a:r>
            <a:r>
              <a:rPr dirty="0"/>
              <a:t> է, </a:t>
            </a:r>
            <a:r>
              <a:rPr dirty="0" err="1"/>
              <a:t>սակայն</a:t>
            </a:r>
            <a:r>
              <a:rPr dirty="0"/>
              <a:t> </a:t>
            </a:r>
            <a:r>
              <a:rPr dirty="0" err="1"/>
              <a:t>ունի</a:t>
            </a:r>
            <a:r>
              <a:rPr dirty="0"/>
              <a:t> </a:t>
            </a:r>
            <a:r>
              <a:rPr dirty="0" err="1"/>
              <a:t>լուրջ</a:t>
            </a:r>
            <a:r>
              <a:rPr dirty="0"/>
              <a:t> </a:t>
            </a:r>
            <a:r>
              <a:rPr dirty="0" err="1"/>
              <a:t>սահմանափակումներ</a:t>
            </a:r>
            <a:r>
              <a:rPr dirty="0"/>
              <a:t>։ </a:t>
            </a:r>
            <a:r>
              <a:rPr dirty="0" err="1"/>
              <a:t>Երբ</a:t>
            </a:r>
            <a:r>
              <a:rPr dirty="0"/>
              <a:t> </a:t>
            </a:r>
            <a:r>
              <a:rPr dirty="0" err="1"/>
              <a:t>հատկանիշները</a:t>
            </a:r>
            <a:r>
              <a:rPr dirty="0"/>
              <a:t> </a:t>
            </a:r>
            <a:r>
              <a:rPr dirty="0" err="1"/>
              <a:t>փոխկապակցված</a:t>
            </a:r>
            <a:r>
              <a:rPr dirty="0"/>
              <a:t> են (multicollinearity) </a:t>
            </a:r>
            <a:r>
              <a:rPr dirty="0" err="1"/>
              <a:t>կամ</a:t>
            </a:r>
            <a:r>
              <a:rPr dirty="0"/>
              <a:t> </a:t>
            </a:r>
            <a:r>
              <a:rPr dirty="0" err="1"/>
              <a:t>չափազանց</a:t>
            </a:r>
            <a:r>
              <a:rPr dirty="0"/>
              <a:t> </a:t>
            </a:r>
            <a:r>
              <a:rPr dirty="0" err="1"/>
              <a:t>շատ</a:t>
            </a:r>
            <a:r>
              <a:rPr dirty="0"/>
              <a:t> են, </a:t>
            </a:r>
            <a:r>
              <a:rPr dirty="0" err="1"/>
              <a:t>մոդելը</a:t>
            </a:r>
            <a:r>
              <a:rPr dirty="0"/>
              <a:t> </a:t>
            </a:r>
            <a:r>
              <a:rPr dirty="0" err="1"/>
              <a:t>դառնում</a:t>
            </a:r>
            <a:r>
              <a:rPr dirty="0"/>
              <a:t> է </a:t>
            </a:r>
            <a:r>
              <a:rPr dirty="0" err="1"/>
              <a:t>անկայուն</a:t>
            </a:r>
            <a:r>
              <a:rPr dirty="0"/>
              <a:t> և </a:t>
            </a:r>
            <a:r>
              <a:rPr dirty="0" err="1"/>
              <a:t>գերհարմարվող</a:t>
            </a:r>
            <a:r>
              <a:rPr dirty="0"/>
              <a:t>՝ </a:t>
            </a:r>
            <a:r>
              <a:rPr dirty="0" err="1"/>
              <a:t>շատ</a:t>
            </a:r>
            <a:r>
              <a:rPr dirty="0"/>
              <a:t> </a:t>
            </a:r>
            <a:r>
              <a:rPr dirty="0" err="1"/>
              <a:t>լավ</a:t>
            </a:r>
            <a:r>
              <a:rPr dirty="0"/>
              <a:t> «</a:t>
            </a:r>
            <a:r>
              <a:rPr dirty="0" err="1"/>
              <a:t>սովորելով</a:t>
            </a:r>
            <a:r>
              <a:rPr dirty="0"/>
              <a:t>» train </a:t>
            </a:r>
            <a:r>
              <a:rPr dirty="0" err="1"/>
              <a:t>տվյալները</a:t>
            </a:r>
            <a:r>
              <a:rPr dirty="0"/>
              <a:t>, </a:t>
            </a:r>
            <a:r>
              <a:rPr dirty="0" err="1"/>
              <a:t>բայց</a:t>
            </a:r>
            <a:r>
              <a:rPr dirty="0"/>
              <a:t> </a:t>
            </a:r>
            <a:r>
              <a:rPr dirty="0" err="1"/>
              <a:t>վատ</a:t>
            </a:r>
            <a:r>
              <a:rPr dirty="0"/>
              <a:t> generalizing test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։ </a:t>
            </a:r>
            <a:r>
              <a:rPr dirty="0" err="1"/>
              <a:t>Այս</a:t>
            </a:r>
            <a:r>
              <a:rPr dirty="0"/>
              <a:t> </a:t>
            </a:r>
            <a:r>
              <a:rPr dirty="0" err="1"/>
              <a:t>խնդիրներն</a:t>
            </a:r>
            <a:r>
              <a:rPr dirty="0"/>
              <a:t> </a:t>
            </a:r>
            <a:r>
              <a:rPr dirty="0" err="1"/>
              <a:t>էլ</a:t>
            </a:r>
            <a:r>
              <a:rPr dirty="0"/>
              <a:t> </a:t>
            </a:r>
            <a:r>
              <a:rPr dirty="0" err="1"/>
              <a:t>դառնում</a:t>
            </a:r>
            <a:r>
              <a:rPr dirty="0"/>
              <a:t> են </a:t>
            </a:r>
            <a:r>
              <a:rPr dirty="0" err="1"/>
              <a:t>կարգավորման</a:t>
            </a:r>
            <a:r>
              <a:rPr dirty="0"/>
              <a:t> </a:t>
            </a:r>
            <a:r>
              <a:rPr dirty="0" err="1"/>
              <a:t>մեթոդների</a:t>
            </a:r>
            <a:r>
              <a:rPr dirty="0"/>
              <a:t> </a:t>
            </a:r>
            <a:r>
              <a:rPr dirty="0" err="1"/>
              <a:t>օգտագործման</a:t>
            </a:r>
            <a:r>
              <a:rPr dirty="0"/>
              <a:t> </a:t>
            </a:r>
            <a:r>
              <a:rPr dirty="0" err="1"/>
              <a:t>հիմնական</a:t>
            </a:r>
            <a:r>
              <a:rPr dirty="0"/>
              <a:t> </a:t>
            </a:r>
            <a:r>
              <a:rPr dirty="0" err="1"/>
              <a:t>խթանը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Կարգավորման հիմնական գաղափարը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279523" cy="3753702"/>
          </a:xfrm>
        </p:spPr>
        <p:txBody>
          <a:bodyPr>
            <a:normAutofit lnSpcReduction="10000"/>
          </a:bodyPr>
          <a:lstStyle/>
          <a:p>
            <a:r>
              <a:rPr dirty="0" err="1"/>
              <a:t>Կարգավորումը</a:t>
            </a:r>
            <a:r>
              <a:rPr dirty="0"/>
              <a:t> </a:t>
            </a:r>
            <a:r>
              <a:rPr dirty="0" err="1"/>
              <a:t>մաթեմատիկական</a:t>
            </a:r>
            <a:r>
              <a:rPr dirty="0"/>
              <a:t> </a:t>
            </a:r>
            <a:r>
              <a:rPr dirty="0" err="1"/>
              <a:t>մեխանիզմ</a:t>
            </a:r>
            <a:r>
              <a:rPr dirty="0"/>
              <a:t> է, </a:t>
            </a:r>
            <a:r>
              <a:rPr dirty="0" err="1"/>
              <a:t>որով</a:t>
            </a:r>
            <a:r>
              <a:rPr dirty="0"/>
              <a:t> </a:t>
            </a:r>
            <a:r>
              <a:rPr dirty="0" err="1"/>
              <a:t>փորձ</a:t>
            </a:r>
            <a:r>
              <a:rPr dirty="0"/>
              <a:t> է </a:t>
            </a:r>
            <a:r>
              <a:rPr dirty="0" err="1"/>
              <a:t>արվում</a:t>
            </a:r>
            <a:r>
              <a:rPr dirty="0"/>
              <a:t> </a:t>
            </a:r>
            <a:r>
              <a:rPr dirty="0" err="1"/>
              <a:t>սահմանափակել</a:t>
            </a:r>
            <a:r>
              <a:rPr dirty="0"/>
              <a:t> </a:t>
            </a:r>
            <a:r>
              <a:rPr dirty="0" err="1"/>
              <a:t>մոդելի</a:t>
            </a:r>
            <a:r>
              <a:rPr dirty="0"/>
              <a:t> </a:t>
            </a:r>
            <a:r>
              <a:rPr dirty="0" err="1"/>
              <a:t>բարդությունը</a:t>
            </a:r>
            <a:r>
              <a:rPr dirty="0"/>
              <a:t> և </a:t>
            </a:r>
            <a:r>
              <a:rPr dirty="0" err="1"/>
              <a:t>կանխել</a:t>
            </a:r>
            <a:r>
              <a:rPr dirty="0"/>
              <a:t> overfitting-ը։ </a:t>
            </a:r>
            <a:r>
              <a:rPr dirty="0" err="1"/>
              <a:t>Դրա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 </a:t>
            </a:r>
            <a:r>
              <a:rPr dirty="0" err="1"/>
              <a:t>նպատակային</a:t>
            </a:r>
            <a:r>
              <a:rPr dirty="0"/>
              <a:t> </a:t>
            </a:r>
            <a:r>
              <a:rPr dirty="0" err="1"/>
              <a:t>ֆունկցիային</a:t>
            </a:r>
            <a:r>
              <a:rPr dirty="0"/>
              <a:t> </a:t>
            </a:r>
            <a:r>
              <a:rPr dirty="0" err="1"/>
              <a:t>ավելացվում</a:t>
            </a:r>
            <a:r>
              <a:rPr dirty="0"/>
              <a:t> է </a:t>
            </a:r>
            <a:r>
              <a:rPr dirty="0" err="1"/>
              <a:t>հավելյալ</a:t>
            </a:r>
            <a:r>
              <a:rPr dirty="0"/>
              <a:t> </a:t>
            </a:r>
            <a:r>
              <a:rPr dirty="0" err="1"/>
              <a:t>տերմին</a:t>
            </a:r>
            <a:r>
              <a:rPr dirty="0"/>
              <a:t>՝ </a:t>
            </a:r>
            <a:r>
              <a:rPr dirty="0" err="1"/>
              <a:t>պատժելով</a:t>
            </a:r>
            <a:r>
              <a:rPr dirty="0"/>
              <a:t> </a:t>
            </a:r>
            <a:r>
              <a:rPr dirty="0" err="1"/>
              <a:t>չափազանց</a:t>
            </a:r>
            <a:r>
              <a:rPr dirty="0"/>
              <a:t> </a:t>
            </a:r>
            <a:r>
              <a:rPr dirty="0" err="1"/>
              <a:t>մեծ</a:t>
            </a:r>
            <a:r>
              <a:rPr dirty="0"/>
              <a:t> </a:t>
            </a:r>
            <a:r>
              <a:rPr dirty="0" err="1"/>
              <a:t>քաշերը</a:t>
            </a:r>
            <a:r>
              <a:rPr dirty="0"/>
              <a:t>։ </a:t>
            </a:r>
            <a:r>
              <a:rPr dirty="0" err="1"/>
              <a:t>Ընդհանուր</a:t>
            </a:r>
            <a:r>
              <a:rPr dirty="0"/>
              <a:t> </a:t>
            </a:r>
            <a:r>
              <a:rPr dirty="0" err="1"/>
              <a:t>տեսքով</a:t>
            </a:r>
            <a:r>
              <a:rPr dirty="0"/>
              <a:t> </a:t>
            </a:r>
            <a:r>
              <a:rPr dirty="0" err="1"/>
              <a:t>կորուստը</a:t>
            </a:r>
            <a:r>
              <a:rPr dirty="0"/>
              <a:t> </a:t>
            </a:r>
            <a:r>
              <a:rPr dirty="0" err="1"/>
              <a:t>գրանցվում</a:t>
            </a:r>
            <a:r>
              <a:rPr dirty="0"/>
              <a:t> է </a:t>
            </a:r>
            <a:r>
              <a:rPr dirty="0" err="1"/>
              <a:t>այսպես</a:t>
            </a:r>
            <a:r>
              <a:rPr dirty="0"/>
              <a:t>․ J(w) = (1/m) Σ(yᵢ–ŷᵢ)² + </a:t>
            </a:r>
            <a:r>
              <a:rPr dirty="0" err="1"/>
              <a:t>λR</a:t>
            </a:r>
            <a:r>
              <a:rPr dirty="0"/>
              <a:t>(w), </a:t>
            </a:r>
            <a:r>
              <a:rPr dirty="0" err="1"/>
              <a:t>որտեղ</a:t>
            </a:r>
            <a:r>
              <a:rPr dirty="0"/>
              <a:t> R(w)-ը </a:t>
            </a:r>
            <a:r>
              <a:rPr dirty="0" err="1"/>
              <a:t>կարգավորման</a:t>
            </a:r>
            <a:r>
              <a:rPr dirty="0"/>
              <a:t> </a:t>
            </a:r>
            <a:r>
              <a:rPr dirty="0" err="1"/>
              <a:t>տերմինն</a:t>
            </a:r>
            <a:r>
              <a:rPr dirty="0"/>
              <a:t> է, </a:t>
            </a:r>
            <a:r>
              <a:rPr dirty="0" err="1"/>
              <a:t>իսկ</a:t>
            </a:r>
            <a:r>
              <a:rPr dirty="0"/>
              <a:t> λ-ն՝ </a:t>
            </a:r>
            <a:r>
              <a:rPr dirty="0" err="1"/>
              <a:t>կարգավորման</a:t>
            </a:r>
            <a:r>
              <a:rPr dirty="0"/>
              <a:t> </a:t>
            </a:r>
            <a:r>
              <a:rPr dirty="0" err="1"/>
              <a:t>ուժը</a:t>
            </a:r>
            <a:r>
              <a:rPr dirty="0"/>
              <a:t>։ </a:t>
            </a:r>
            <a:r>
              <a:rPr dirty="0" err="1"/>
              <a:t>Մեծ</a:t>
            </a:r>
            <a:r>
              <a:rPr dirty="0"/>
              <a:t> λ-ի </a:t>
            </a:r>
            <a:r>
              <a:rPr dirty="0" err="1"/>
              <a:t>դեպքում</a:t>
            </a:r>
            <a:r>
              <a:rPr dirty="0"/>
              <a:t> </a:t>
            </a:r>
            <a:r>
              <a:rPr dirty="0" err="1"/>
              <a:t>մոդելը</a:t>
            </a:r>
            <a:r>
              <a:rPr dirty="0"/>
              <a:t> </a:t>
            </a:r>
            <a:r>
              <a:rPr dirty="0" err="1"/>
              <a:t>դառնում</a:t>
            </a:r>
            <a:r>
              <a:rPr dirty="0"/>
              <a:t> է </a:t>
            </a:r>
            <a:r>
              <a:rPr dirty="0" err="1"/>
              <a:t>ավելի</a:t>
            </a:r>
            <a:r>
              <a:rPr dirty="0"/>
              <a:t> «</a:t>
            </a:r>
            <a:r>
              <a:rPr dirty="0" err="1"/>
              <a:t>պահպանողական</a:t>
            </a:r>
            <a:r>
              <a:rPr dirty="0"/>
              <a:t>», </a:t>
            </a:r>
            <a:r>
              <a:rPr dirty="0" err="1"/>
              <a:t>փոքր</a:t>
            </a:r>
            <a:r>
              <a:rPr dirty="0"/>
              <a:t> </a:t>
            </a:r>
            <a:r>
              <a:rPr dirty="0" err="1"/>
              <a:t>քաշերով</a:t>
            </a:r>
            <a:r>
              <a:rPr dirty="0"/>
              <a:t> և </a:t>
            </a:r>
            <a:r>
              <a:rPr dirty="0" err="1"/>
              <a:t>սակավ</a:t>
            </a:r>
            <a:r>
              <a:rPr dirty="0"/>
              <a:t> </a:t>
            </a:r>
            <a:r>
              <a:rPr dirty="0" err="1"/>
              <a:t>բարդությամբ</a:t>
            </a:r>
            <a:r>
              <a:rPr dirty="0"/>
              <a:t>։ </a:t>
            </a:r>
            <a:r>
              <a:rPr dirty="0" err="1"/>
              <a:t>Այս</a:t>
            </a:r>
            <a:r>
              <a:rPr dirty="0"/>
              <a:t> </a:t>
            </a:r>
            <a:r>
              <a:rPr dirty="0" err="1"/>
              <a:t>գաղափարի</a:t>
            </a:r>
            <a:r>
              <a:rPr dirty="0"/>
              <a:t> </a:t>
            </a:r>
            <a:r>
              <a:rPr dirty="0" err="1"/>
              <a:t>ամենահայտնի</a:t>
            </a:r>
            <a:r>
              <a:rPr dirty="0"/>
              <a:t> </a:t>
            </a:r>
            <a:r>
              <a:rPr dirty="0" err="1"/>
              <a:t>իրագործումներն</a:t>
            </a:r>
            <a:r>
              <a:rPr dirty="0"/>
              <a:t> են L2 </a:t>
            </a:r>
            <a:r>
              <a:rPr dirty="0" err="1"/>
              <a:t>կարգավորումը</a:t>
            </a:r>
            <a:r>
              <a:rPr dirty="0"/>
              <a:t> (Ridge Regression) և L1 </a:t>
            </a:r>
            <a:r>
              <a:rPr dirty="0" err="1"/>
              <a:t>կարգավորումը</a:t>
            </a:r>
            <a:r>
              <a:rPr dirty="0"/>
              <a:t> (Lasso Regression), </a:t>
            </a:r>
            <a:r>
              <a:rPr dirty="0" err="1"/>
              <a:t>որոնք</a:t>
            </a:r>
            <a:r>
              <a:rPr dirty="0"/>
              <a:t> </a:t>
            </a:r>
            <a:r>
              <a:rPr dirty="0" err="1"/>
              <a:t>միաժամանակ</a:t>
            </a:r>
            <a:r>
              <a:rPr dirty="0"/>
              <a:t> </a:t>
            </a:r>
            <a:r>
              <a:rPr dirty="0" err="1"/>
              <a:t>նվազեցնում</a:t>
            </a:r>
            <a:r>
              <a:rPr dirty="0"/>
              <a:t> են </a:t>
            </a:r>
            <a:r>
              <a:rPr dirty="0" err="1"/>
              <a:t>սխալները</a:t>
            </a:r>
            <a:r>
              <a:rPr dirty="0"/>
              <a:t> և </a:t>
            </a:r>
            <a:r>
              <a:rPr dirty="0" err="1"/>
              <a:t>ապահովում</a:t>
            </a:r>
            <a:r>
              <a:rPr dirty="0"/>
              <a:t> </a:t>
            </a:r>
            <a:r>
              <a:rPr dirty="0" err="1"/>
              <a:t>մոդելի</a:t>
            </a:r>
            <a:r>
              <a:rPr dirty="0"/>
              <a:t> </a:t>
            </a:r>
            <a:r>
              <a:rPr dirty="0" err="1"/>
              <a:t>կայունություն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Ridge Regression (L2) առանձնահատկություններ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351951" cy="3690327"/>
          </a:xfrm>
        </p:spPr>
        <p:txBody>
          <a:bodyPr>
            <a:normAutofit lnSpcReduction="10000"/>
          </a:bodyPr>
          <a:lstStyle/>
          <a:p>
            <a:r>
              <a:rPr dirty="0"/>
              <a:t>Ridge </a:t>
            </a:r>
            <a:r>
              <a:rPr dirty="0" err="1"/>
              <a:t>ռեգրեսիան</a:t>
            </a:r>
            <a:r>
              <a:rPr dirty="0"/>
              <a:t> </a:t>
            </a:r>
            <a:r>
              <a:rPr dirty="0" err="1"/>
              <a:t>հիմնված</a:t>
            </a:r>
            <a:r>
              <a:rPr dirty="0"/>
              <a:t> է L2 </a:t>
            </a:r>
            <a:r>
              <a:rPr dirty="0" err="1"/>
              <a:t>կարգավորման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, </a:t>
            </a:r>
            <a:r>
              <a:rPr dirty="0" err="1"/>
              <a:t>երբ</a:t>
            </a:r>
            <a:r>
              <a:rPr dirty="0"/>
              <a:t> </a:t>
            </a:r>
            <a:r>
              <a:rPr dirty="0" err="1"/>
              <a:t>կորուստի</a:t>
            </a:r>
            <a:r>
              <a:rPr dirty="0"/>
              <a:t> </a:t>
            </a:r>
            <a:r>
              <a:rPr dirty="0" err="1"/>
              <a:t>ֆունկցիային</a:t>
            </a:r>
            <a:r>
              <a:rPr dirty="0"/>
              <a:t> </a:t>
            </a:r>
            <a:r>
              <a:rPr dirty="0" err="1"/>
              <a:t>ավելացվում</a:t>
            </a:r>
            <a:r>
              <a:rPr dirty="0"/>
              <a:t> է </a:t>
            </a:r>
            <a:r>
              <a:rPr dirty="0" err="1"/>
              <a:t>քաշերի</a:t>
            </a:r>
            <a:r>
              <a:rPr dirty="0"/>
              <a:t> </a:t>
            </a:r>
            <a:r>
              <a:rPr dirty="0" err="1"/>
              <a:t>քառակուսիների</a:t>
            </a:r>
            <a:r>
              <a:rPr dirty="0"/>
              <a:t> </a:t>
            </a:r>
            <a:r>
              <a:rPr dirty="0" err="1"/>
              <a:t>գումարը</a:t>
            </a:r>
            <a:r>
              <a:rPr dirty="0"/>
              <a:t>։ </a:t>
            </a:r>
            <a:r>
              <a:rPr dirty="0" err="1"/>
              <a:t>Այդպիսով</a:t>
            </a:r>
            <a:r>
              <a:rPr dirty="0"/>
              <a:t> </a:t>
            </a:r>
            <a:r>
              <a:rPr dirty="0" err="1"/>
              <a:t>մոդելը</a:t>
            </a:r>
            <a:r>
              <a:rPr dirty="0"/>
              <a:t> </a:t>
            </a:r>
            <a:r>
              <a:rPr dirty="0" err="1"/>
              <a:t>նվազեցնում</a:t>
            </a:r>
            <a:r>
              <a:rPr dirty="0"/>
              <a:t> է </a:t>
            </a:r>
            <a:r>
              <a:rPr dirty="0" err="1"/>
              <a:t>ոչ</a:t>
            </a:r>
            <a:r>
              <a:rPr dirty="0"/>
              <a:t> </a:t>
            </a:r>
            <a:r>
              <a:rPr dirty="0" err="1"/>
              <a:t>միայն</a:t>
            </a:r>
            <a:r>
              <a:rPr dirty="0"/>
              <a:t> </a:t>
            </a:r>
            <a:r>
              <a:rPr dirty="0" err="1"/>
              <a:t>կանխատեսման</a:t>
            </a:r>
            <a:r>
              <a:rPr dirty="0"/>
              <a:t> </a:t>
            </a:r>
            <a:r>
              <a:rPr dirty="0" err="1"/>
              <a:t>սխալը</a:t>
            </a:r>
            <a:r>
              <a:rPr dirty="0"/>
              <a:t>, </a:t>
            </a:r>
            <a:r>
              <a:rPr dirty="0" err="1"/>
              <a:t>այլ</a:t>
            </a:r>
            <a:r>
              <a:rPr dirty="0"/>
              <a:t> </a:t>
            </a:r>
            <a:r>
              <a:rPr dirty="0" err="1"/>
              <a:t>նաև</a:t>
            </a:r>
            <a:r>
              <a:rPr dirty="0"/>
              <a:t> </a:t>
            </a:r>
            <a:r>
              <a:rPr dirty="0" err="1"/>
              <a:t>փորձում</a:t>
            </a:r>
            <a:r>
              <a:rPr dirty="0"/>
              <a:t> է </a:t>
            </a:r>
            <a:r>
              <a:rPr dirty="0" err="1"/>
              <a:t>պահել</a:t>
            </a:r>
            <a:r>
              <a:rPr dirty="0"/>
              <a:t> w </a:t>
            </a:r>
            <a:r>
              <a:rPr dirty="0" err="1"/>
              <a:t>գործակիցները</a:t>
            </a:r>
            <a:r>
              <a:rPr dirty="0"/>
              <a:t> </a:t>
            </a:r>
            <a:r>
              <a:rPr dirty="0" err="1"/>
              <a:t>փոքր</a:t>
            </a:r>
            <a:r>
              <a:rPr dirty="0"/>
              <a:t> </a:t>
            </a:r>
            <a:r>
              <a:rPr dirty="0" err="1"/>
              <a:t>արժեքների</a:t>
            </a:r>
            <a:r>
              <a:rPr dirty="0"/>
              <a:t> </a:t>
            </a:r>
            <a:r>
              <a:rPr dirty="0" err="1"/>
              <a:t>մոտ</a:t>
            </a:r>
            <a:r>
              <a:rPr dirty="0"/>
              <a:t>։ </a:t>
            </a:r>
            <a:r>
              <a:rPr dirty="0" err="1"/>
              <a:t>Սա</a:t>
            </a:r>
            <a:r>
              <a:rPr dirty="0"/>
              <a:t> </a:t>
            </a:r>
            <a:r>
              <a:rPr dirty="0" err="1"/>
              <a:t>հատկապես</a:t>
            </a:r>
            <a:r>
              <a:rPr dirty="0"/>
              <a:t> </a:t>
            </a:r>
            <a:r>
              <a:rPr dirty="0" err="1"/>
              <a:t>կարևոր</a:t>
            </a:r>
            <a:r>
              <a:rPr dirty="0"/>
              <a:t> է multicollinearity-ի </a:t>
            </a:r>
            <a:r>
              <a:rPr dirty="0" err="1"/>
              <a:t>առկայության</a:t>
            </a:r>
            <a:r>
              <a:rPr dirty="0"/>
              <a:t> </a:t>
            </a:r>
            <a:r>
              <a:rPr dirty="0" err="1"/>
              <a:t>դեպքում</a:t>
            </a:r>
            <a:r>
              <a:rPr dirty="0"/>
              <a:t>, </a:t>
            </a:r>
            <a:r>
              <a:rPr dirty="0" err="1"/>
              <a:t>երբ</a:t>
            </a:r>
            <a:r>
              <a:rPr dirty="0"/>
              <a:t> </a:t>
            </a:r>
            <a:r>
              <a:rPr dirty="0" err="1"/>
              <a:t>սովորական</a:t>
            </a:r>
            <a:r>
              <a:rPr dirty="0"/>
              <a:t>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ռեգրեսիան</a:t>
            </a:r>
            <a:r>
              <a:rPr dirty="0"/>
              <a:t> </a:t>
            </a:r>
            <a:r>
              <a:rPr dirty="0" err="1"/>
              <a:t>տալիս</a:t>
            </a:r>
            <a:r>
              <a:rPr dirty="0"/>
              <a:t> է «</a:t>
            </a:r>
            <a:r>
              <a:rPr dirty="0" err="1"/>
              <a:t>ցատկող</a:t>
            </a:r>
            <a:r>
              <a:rPr dirty="0"/>
              <a:t>» և </a:t>
            </a:r>
            <a:r>
              <a:rPr dirty="0" err="1"/>
              <a:t>անկայուն</a:t>
            </a:r>
            <a:r>
              <a:rPr dirty="0"/>
              <a:t> </a:t>
            </a:r>
            <a:r>
              <a:rPr dirty="0" err="1"/>
              <a:t>գործակիցներ</a:t>
            </a:r>
            <a:r>
              <a:rPr dirty="0"/>
              <a:t>։ Ridge-ը </a:t>
            </a:r>
            <a:r>
              <a:rPr dirty="0" err="1"/>
              <a:t>բոլոր</a:t>
            </a:r>
            <a:r>
              <a:rPr dirty="0"/>
              <a:t> </a:t>
            </a:r>
            <a:r>
              <a:rPr dirty="0" err="1"/>
              <a:t>հատկանիշները</a:t>
            </a:r>
            <a:r>
              <a:rPr dirty="0"/>
              <a:t> </a:t>
            </a:r>
            <a:r>
              <a:rPr dirty="0" err="1"/>
              <a:t>պահում</a:t>
            </a:r>
            <a:r>
              <a:rPr dirty="0"/>
              <a:t> է </a:t>
            </a:r>
            <a:r>
              <a:rPr dirty="0" err="1"/>
              <a:t>մոդելի</a:t>
            </a:r>
            <a:r>
              <a:rPr dirty="0"/>
              <a:t> </a:t>
            </a:r>
            <a:r>
              <a:rPr dirty="0" err="1"/>
              <a:t>մեջ</a:t>
            </a:r>
            <a:r>
              <a:rPr dirty="0"/>
              <a:t>, </a:t>
            </a:r>
            <a:r>
              <a:rPr dirty="0" err="1"/>
              <a:t>սակայն</a:t>
            </a:r>
            <a:r>
              <a:rPr dirty="0"/>
              <a:t> </a:t>
            </a:r>
            <a:r>
              <a:rPr dirty="0" err="1"/>
              <a:t>նրանց</a:t>
            </a:r>
            <a:r>
              <a:rPr dirty="0"/>
              <a:t> </a:t>
            </a:r>
            <a:r>
              <a:rPr dirty="0" err="1"/>
              <a:t>ազդեցությունը</a:t>
            </a:r>
            <a:r>
              <a:rPr dirty="0"/>
              <a:t> «</a:t>
            </a:r>
            <a:r>
              <a:rPr dirty="0" err="1"/>
              <a:t>մեղմացնում</a:t>
            </a:r>
            <a:r>
              <a:rPr dirty="0"/>
              <a:t>» է։ </a:t>
            </a:r>
            <a:r>
              <a:rPr dirty="0" err="1"/>
              <a:t>Արդյունքում</a:t>
            </a:r>
            <a:r>
              <a:rPr dirty="0"/>
              <a:t> </a:t>
            </a:r>
            <a:r>
              <a:rPr dirty="0" err="1"/>
              <a:t>ստացվում</a:t>
            </a:r>
            <a:r>
              <a:rPr dirty="0"/>
              <a:t> է </a:t>
            </a:r>
            <a:r>
              <a:rPr dirty="0" err="1"/>
              <a:t>ավելի</a:t>
            </a:r>
            <a:r>
              <a:rPr dirty="0"/>
              <a:t> </a:t>
            </a:r>
            <a:r>
              <a:rPr dirty="0" err="1"/>
              <a:t>հարթ</a:t>
            </a:r>
            <a:r>
              <a:rPr dirty="0"/>
              <a:t>, generalizing </a:t>
            </a:r>
            <a:r>
              <a:rPr dirty="0" err="1"/>
              <a:t>մոդել</a:t>
            </a:r>
            <a:r>
              <a:rPr dirty="0"/>
              <a:t>, </a:t>
            </a:r>
            <a:r>
              <a:rPr dirty="0" err="1"/>
              <a:t>որը</a:t>
            </a:r>
            <a:r>
              <a:rPr dirty="0"/>
              <a:t> </a:t>
            </a:r>
            <a:r>
              <a:rPr dirty="0" err="1"/>
              <a:t>սովորաբար</a:t>
            </a:r>
            <a:r>
              <a:rPr dirty="0"/>
              <a:t> </a:t>
            </a:r>
            <a:r>
              <a:rPr dirty="0" err="1"/>
              <a:t>ապահովում</a:t>
            </a:r>
            <a:r>
              <a:rPr dirty="0"/>
              <a:t> է </a:t>
            </a:r>
            <a:r>
              <a:rPr dirty="0" err="1"/>
              <a:t>լավ</a:t>
            </a:r>
            <a:r>
              <a:rPr dirty="0"/>
              <a:t> </a:t>
            </a:r>
            <a:r>
              <a:rPr dirty="0" err="1"/>
              <a:t>հավասարակշռություն</a:t>
            </a:r>
            <a:r>
              <a:rPr dirty="0"/>
              <a:t> </a:t>
            </a:r>
            <a:r>
              <a:rPr dirty="0" err="1"/>
              <a:t>ճշտության</a:t>
            </a:r>
            <a:r>
              <a:rPr dirty="0"/>
              <a:t> և </a:t>
            </a:r>
            <a:r>
              <a:rPr dirty="0" err="1"/>
              <a:t>կայունության</a:t>
            </a:r>
            <a:r>
              <a:rPr dirty="0"/>
              <a:t> </a:t>
            </a:r>
            <a:r>
              <a:rPr dirty="0" err="1"/>
              <a:t>միջև</a:t>
            </a:r>
            <a:r>
              <a:rPr dirty="0"/>
              <a:t>, </a:t>
            </a:r>
            <a:r>
              <a:rPr dirty="0" err="1"/>
              <a:t>հատկապես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չափի</a:t>
            </a:r>
            <a:r>
              <a:rPr dirty="0"/>
              <a:t> dataset-</a:t>
            </a:r>
            <a:r>
              <a:rPr dirty="0" err="1"/>
              <a:t>ների</a:t>
            </a:r>
            <a:r>
              <a:rPr dirty="0"/>
              <a:t> </a:t>
            </a:r>
            <a:r>
              <a:rPr dirty="0" err="1"/>
              <a:t>դեպքում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Lasso Regression (L1) և գնահատման չափանիշներ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152775" cy="3409670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Lasso </a:t>
            </a:r>
            <a:r>
              <a:rPr dirty="0" err="1"/>
              <a:t>ռեգրեսիան</a:t>
            </a:r>
            <a:r>
              <a:rPr dirty="0"/>
              <a:t> </a:t>
            </a:r>
            <a:r>
              <a:rPr dirty="0" err="1"/>
              <a:t>օգտագործում</a:t>
            </a:r>
            <a:r>
              <a:rPr dirty="0"/>
              <a:t> է L1 </a:t>
            </a:r>
            <a:r>
              <a:rPr dirty="0" err="1"/>
              <a:t>կարգավորում</a:t>
            </a:r>
            <a:r>
              <a:rPr dirty="0"/>
              <a:t>, </a:t>
            </a:r>
            <a:r>
              <a:rPr dirty="0" err="1"/>
              <a:t>երբ</a:t>
            </a:r>
            <a:r>
              <a:rPr dirty="0"/>
              <a:t> </a:t>
            </a:r>
            <a:r>
              <a:rPr dirty="0" err="1"/>
              <a:t>պատժվում</a:t>
            </a:r>
            <a:r>
              <a:rPr dirty="0"/>
              <a:t> է </a:t>
            </a:r>
            <a:r>
              <a:rPr dirty="0" err="1"/>
              <a:t>քաշերի</a:t>
            </a:r>
            <a:r>
              <a:rPr dirty="0"/>
              <a:t> </a:t>
            </a:r>
            <a:r>
              <a:rPr dirty="0" err="1"/>
              <a:t>բացարձակ</a:t>
            </a:r>
            <a:r>
              <a:rPr dirty="0"/>
              <a:t> </a:t>
            </a:r>
            <a:r>
              <a:rPr dirty="0" err="1"/>
              <a:t>արժեքների</a:t>
            </a:r>
            <a:r>
              <a:rPr dirty="0"/>
              <a:t> </a:t>
            </a:r>
            <a:r>
              <a:rPr dirty="0" err="1"/>
              <a:t>գումարը</a:t>
            </a:r>
            <a:r>
              <a:rPr dirty="0"/>
              <a:t>։ </a:t>
            </a:r>
            <a:r>
              <a:rPr dirty="0" err="1"/>
              <a:t>Դրա</a:t>
            </a:r>
            <a:r>
              <a:rPr dirty="0"/>
              <a:t> </a:t>
            </a:r>
            <a:r>
              <a:rPr dirty="0" err="1"/>
              <a:t>առանձնահատկությունը</a:t>
            </a:r>
            <a:r>
              <a:rPr dirty="0"/>
              <a:t> </a:t>
            </a:r>
            <a:r>
              <a:rPr dirty="0" err="1"/>
              <a:t>այն</a:t>
            </a:r>
            <a:r>
              <a:rPr dirty="0"/>
              <a:t> է,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որոշ</a:t>
            </a:r>
            <a:r>
              <a:rPr dirty="0"/>
              <a:t> </a:t>
            </a:r>
            <a:r>
              <a:rPr dirty="0" err="1"/>
              <a:t>w_j</a:t>
            </a:r>
            <a:r>
              <a:rPr dirty="0"/>
              <a:t> </a:t>
            </a:r>
            <a:r>
              <a:rPr dirty="0" err="1"/>
              <a:t>արժեքներ</a:t>
            </a:r>
            <a:r>
              <a:rPr dirty="0"/>
              <a:t> </a:t>
            </a:r>
            <a:r>
              <a:rPr dirty="0" err="1"/>
              <a:t>դառնում</a:t>
            </a:r>
            <a:r>
              <a:rPr dirty="0"/>
              <a:t> են </a:t>
            </a:r>
            <a:r>
              <a:rPr dirty="0" err="1"/>
              <a:t>հենց</a:t>
            </a:r>
            <a:r>
              <a:rPr dirty="0"/>
              <a:t> </a:t>
            </a:r>
            <a:r>
              <a:rPr dirty="0" err="1"/>
              <a:t>զրո</a:t>
            </a:r>
            <a:r>
              <a:rPr dirty="0"/>
              <a:t>, </a:t>
            </a:r>
            <a:r>
              <a:rPr dirty="0" err="1"/>
              <a:t>ինչի</a:t>
            </a:r>
            <a:r>
              <a:rPr dirty="0"/>
              <a:t> </a:t>
            </a:r>
            <a:r>
              <a:rPr dirty="0" err="1"/>
              <a:t>արդյունքում</a:t>
            </a:r>
            <a:r>
              <a:rPr dirty="0"/>
              <a:t> </a:t>
            </a:r>
            <a:r>
              <a:rPr dirty="0" err="1"/>
              <a:t>մոդելը</a:t>
            </a:r>
            <a:r>
              <a:rPr dirty="0"/>
              <a:t> </a:t>
            </a:r>
            <a:r>
              <a:rPr dirty="0" err="1"/>
              <a:t>իրականացնում</a:t>
            </a:r>
            <a:r>
              <a:rPr dirty="0"/>
              <a:t> է feature selection՝ </a:t>
            </a:r>
            <a:r>
              <a:rPr dirty="0" err="1"/>
              <a:t>ավտոմատ</a:t>
            </a:r>
            <a:r>
              <a:rPr dirty="0"/>
              <a:t> «</a:t>
            </a:r>
            <a:r>
              <a:rPr dirty="0" err="1"/>
              <a:t>անջատելով</a:t>
            </a:r>
            <a:r>
              <a:rPr dirty="0"/>
              <a:t>» </a:t>
            </a:r>
            <a:r>
              <a:rPr dirty="0" err="1"/>
              <a:t>քիչ</a:t>
            </a:r>
            <a:r>
              <a:rPr dirty="0"/>
              <a:t> </a:t>
            </a:r>
            <a:r>
              <a:rPr dirty="0" err="1"/>
              <a:t>տեղեկատվական</a:t>
            </a:r>
            <a:r>
              <a:rPr dirty="0"/>
              <a:t> </a:t>
            </a:r>
            <a:r>
              <a:rPr dirty="0" err="1"/>
              <a:t>հատկանիշները</a:t>
            </a:r>
            <a:r>
              <a:rPr dirty="0"/>
              <a:t>։ </a:t>
            </a:r>
            <a:r>
              <a:rPr dirty="0" err="1"/>
              <a:t>Սա</a:t>
            </a:r>
            <a:r>
              <a:rPr dirty="0"/>
              <a:t> </a:t>
            </a:r>
            <a:r>
              <a:rPr dirty="0" err="1"/>
              <a:t>մոդելին</a:t>
            </a:r>
            <a:r>
              <a:rPr dirty="0"/>
              <a:t> </a:t>
            </a:r>
            <a:r>
              <a:rPr dirty="0" err="1"/>
              <a:t>տալիս</a:t>
            </a:r>
            <a:r>
              <a:rPr dirty="0"/>
              <a:t> է </a:t>
            </a:r>
            <a:r>
              <a:rPr dirty="0" err="1"/>
              <a:t>ավելի</a:t>
            </a:r>
            <a:r>
              <a:rPr dirty="0"/>
              <a:t> </a:t>
            </a:r>
            <a:r>
              <a:rPr dirty="0" err="1"/>
              <a:t>պարզ</a:t>
            </a:r>
            <a:r>
              <a:rPr dirty="0"/>
              <a:t> և </a:t>
            </a:r>
            <a:r>
              <a:rPr dirty="0" err="1"/>
              <a:t>ինտերպրետացվող</a:t>
            </a:r>
            <a:r>
              <a:rPr dirty="0"/>
              <a:t> </a:t>
            </a:r>
            <a:r>
              <a:rPr dirty="0" err="1"/>
              <a:t>տեսք</a:t>
            </a:r>
            <a:r>
              <a:rPr dirty="0"/>
              <a:t>։ </a:t>
            </a:r>
            <a:r>
              <a:rPr dirty="0" err="1"/>
              <a:t>Մոդելների</a:t>
            </a:r>
            <a:r>
              <a:rPr dirty="0"/>
              <a:t> </a:t>
            </a:r>
            <a:r>
              <a:rPr dirty="0" err="1"/>
              <a:t>գնահատման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 </a:t>
            </a:r>
            <a:r>
              <a:rPr dirty="0" err="1"/>
              <a:t>օգտագործվում</a:t>
            </a:r>
            <a:r>
              <a:rPr dirty="0"/>
              <a:t> են MSE, RMSE, MAE և R² </a:t>
            </a:r>
            <a:r>
              <a:rPr dirty="0" err="1"/>
              <a:t>չափանիշները</a:t>
            </a:r>
            <a:r>
              <a:rPr dirty="0"/>
              <a:t>, </a:t>
            </a:r>
            <a:r>
              <a:rPr dirty="0" err="1"/>
              <a:t>որոնք</a:t>
            </a:r>
            <a:r>
              <a:rPr dirty="0"/>
              <a:t> </a:t>
            </a:r>
            <a:r>
              <a:rPr dirty="0" err="1"/>
              <a:t>թույլ</a:t>
            </a:r>
            <a:r>
              <a:rPr dirty="0"/>
              <a:t> են </a:t>
            </a:r>
            <a:r>
              <a:rPr dirty="0" err="1"/>
              <a:t>տալիս</a:t>
            </a:r>
            <a:r>
              <a:rPr dirty="0"/>
              <a:t> </a:t>
            </a:r>
            <a:r>
              <a:rPr dirty="0" err="1"/>
              <a:t>քանակապես</a:t>
            </a:r>
            <a:r>
              <a:rPr dirty="0"/>
              <a:t> </a:t>
            </a:r>
            <a:r>
              <a:rPr dirty="0" err="1"/>
              <a:t>գնահատել</a:t>
            </a:r>
            <a:r>
              <a:rPr dirty="0"/>
              <a:t> </a:t>
            </a:r>
            <a:r>
              <a:rPr dirty="0" err="1"/>
              <a:t>սխալի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մակարդակը</a:t>
            </a:r>
            <a:r>
              <a:rPr dirty="0"/>
              <a:t> և </a:t>
            </a:r>
            <a:r>
              <a:rPr dirty="0" err="1"/>
              <a:t>բացատրված</a:t>
            </a:r>
            <a:r>
              <a:rPr dirty="0"/>
              <a:t> </a:t>
            </a:r>
            <a:r>
              <a:rPr dirty="0" err="1"/>
              <a:t>տատանումների</a:t>
            </a:r>
            <a:r>
              <a:rPr dirty="0"/>
              <a:t> </a:t>
            </a:r>
            <a:r>
              <a:rPr dirty="0" err="1"/>
              <a:t>տոկոսը</a:t>
            </a:r>
            <a:r>
              <a:rPr dirty="0"/>
              <a:t>։ Ridge-ը </a:t>
            </a:r>
            <a:r>
              <a:rPr dirty="0" err="1"/>
              <a:t>սովորաբար</a:t>
            </a:r>
            <a:r>
              <a:rPr dirty="0"/>
              <a:t> </a:t>
            </a:r>
            <a:r>
              <a:rPr dirty="0" err="1"/>
              <a:t>ավելի</a:t>
            </a:r>
            <a:r>
              <a:rPr dirty="0"/>
              <a:t> </a:t>
            </a:r>
            <a:r>
              <a:rPr dirty="0" err="1"/>
              <a:t>կայուն</a:t>
            </a:r>
            <a:r>
              <a:rPr dirty="0"/>
              <a:t> է, </a:t>
            </a:r>
            <a:r>
              <a:rPr dirty="0" err="1"/>
              <a:t>իսկ</a:t>
            </a:r>
            <a:r>
              <a:rPr dirty="0"/>
              <a:t> Lasso-ն՝ </a:t>
            </a:r>
            <a:r>
              <a:rPr dirty="0" err="1"/>
              <a:t>ավելի</a:t>
            </a:r>
            <a:r>
              <a:rPr dirty="0"/>
              <a:t> sparse և </a:t>
            </a:r>
            <a:r>
              <a:rPr dirty="0" err="1"/>
              <a:t>հարմար</a:t>
            </a:r>
            <a:r>
              <a:rPr dirty="0"/>
              <a:t> </a:t>
            </a:r>
            <a:r>
              <a:rPr dirty="0" err="1"/>
              <a:t>կարևոր</a:t>
            </a:r>
            <a:r>
              <a:rPr dirty="0"/>
              <a:t> </a:t>
            </a:r>
            <a:r>
              <a:rPr dirty="0" err="1"/>
              <a:t>հատկանիշների</a:t>
            </a:r>
            <a:r>
              <a:rPr dirty="0"/>
              <a:t> </a:t>
            </a:r>
            <a:r>
              <a:rPr dirty="0" err="1"/>
              <a:t>առանձնացման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Boston Housing տվյալների հավաքածու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188989" cy="346399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Boston Housing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հավաքածուն</a:t>
            </a:r>
            <a:r>
              <a:rPr dirty="0"/>
              <a:t> </a:t>
            </a:r>
            <a:r>
              <a:rPr dirty="0" err="1"/>
              <a:t>ներկայացնում</a:t>
            </a:r>
            <a:r>
              <a:rPr dirty="0"/>
              <a:t> է </a:t>
            </a:r>
            <a:r>
              <a:rPr dirty="0" err="1"/>
              <a:t>Բոստոնի</a:t>
            </a:r>
            <a:r>
              <a:rPr dirty="0"/>
              <a:t> </a:t>
            </a:r>
            <a:r>
              <a:rPr dirty="0" err="1"/>
              <a:t>բնակարանային</a:t>
            </a:r>
            <a:r>
              <a:rPr dirty="0"/>
              <a:t> </a:t>
            </a:r>
            <a:r>
              <a:rPr dirty="0" err="1"/>
              <a:t>շուկայի</a:t>
            </a:r>
            <a:r>
              <a:rPr dirty="0"/>
              <a:t> </a:t>
            </a:r>
            <a:r>
              <a:rPr dirty="0" err="1"/>
              <a:t>թվայնացված</a:t>
            </a:r>
            <a:r>
              <a:rPr dirty="0"/>
              <a:t> </a:t>
            </a:r>
            <a:r>
              <a:rPr dirty="0" err="1"/>
              <a:t>մոդելը</a:t>
            </a:r>
            <a:r>
              <a:rPr dirty="0"/>
              <a:t>։ </a:t>
            </a:r>
            <a:r>
              <a:rPr dirty="0" err="1"/>
              <a:t>Յուրաքանչյուր</a:t>
            </a:r>
            <a:r>
              <a:rPr dirty="0"/>
              <a:t> </a:t>
            </a:r>
            <a:r>
              <a:rPr dirty="0" err="1"/>
              <a:t>տողի</a:t>
            </a:r>
            <a:r>
              <a:rPr dirty="0"/>
              <a:t> </a:t>
            </a:r>
            <a:r>
              <a:rPr dirty="0" err="1"/>
              <a:t>մեջ</a:t>
            </a:r>
            <a:r>
              <a:rPr dirty="0"/>
              <a:t> </a:t>
            </a:r>
            <a:r>
              <a:rPr dirty="0" err="1"/>
              <a:t>տրված</a:t>
            </a:r>
            <a:r>
              <a:rPr dirty="0"/>
              <a:t> են </a:t>
            </a:r>
            <a:r>
              <a:rPr dirty="0" err="1"/>
              <a:t>տվյալ</a:t>
            </a:r>
            <a:r>
              <a:rPr dirty="0"/>
              <a:t> </a:t>
            </a:r>
            <a:r>
              <a:rPr dirty="0" err="1"/>
              <a:t>շրջանի</a:t>
            </a:r>
            <a:r>
              <a:rPr dirty="0"/>
              <a:t> </a:t>
            </a:r>
            <a:r>
              <a:rPr dirty="0" err="1"/>
              <a:t>հատկանիշները</a:t>
            </a:r>
            <a:r>
              <a:rPr dirty="0"/>
              <a:t>՝ </a:t>
            </a:r>
            <a:r>
              <a:rPr dirty="0" err="1"/>
              <a:t>հանցագործությունների</a:t>
            </a:r>
            <a:r>
              <a:rPr dirty="0"/>
              <a:t> </a:t>
            </a:r>
            <a:r>
              <a:rPr dirty="0" err="1"/>
              <a:t>մակարդակ</a:t>
            </a:r>
            <a:r>
              <a:rPr dirty="0"/>
              <a:t> (CRIM), </a:t>
            </a:r>
            <a:r>
              <a:rPr dirty="0" err="1"/>
              <a:t>սենյակների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քանակ</a:t>
            </a:r>
            <a:r>
              <a:rPr dirty="0"/>
              <a:t> (RM), </a:t>
            </a:r>
            <a:r>
              <a:rPr dirty="0" err="1"/>
              <a:t>օդի</a:t>
            </a:r>
            <a:r>
              <a:rPr dirty="0"/>
              <a:t> </a:t>
            </a:r>
            <a:r>
              <a:rPr dirty="0" err="1"/>
              <a:t>աղտոտվածություն</a:t>
            </a:r>
            <a:r>
              <a:rPr dirty="0"/>
              <a:t> (NOX), </a:t>
            </a:r>
            <a:r>
              <a:rPr dirty="0" err="1"/>
              <a:t>ստորին</a:t>
            </a:r>
            <a:r>
              <a:rPr dirty="0"/>
              <a:t> </a:t>
            </a:r>
            <a:r>
              <a:rPr dirty="0" err="1"/>
              <a:t>սոցիալական</a:t>
            </a:r>
            <a:r>
              <a:rPr dirty="0"/>
              <a:t> </a:t>
            </a:r>
            <a:r>
              <a:rPr dirty="0" err="1"/>
              <a:t>շերտի</a:t>
            </a:r>
            <a:r>
              <a:rPr dirty="0"/>
              <a:t> </a:t>
            </a:r>
            <a:r>
              <a:rPr dirty="0" err="1"/>
              <a:t>բնակչության</a:t>
            </a:r>
            <a:r>
              <a:rPr dirty="0"/>
              <a:t> </a:t>
            </a:r>
            <a:r>
              <a:rPr dirty="0" err="1"/>
              <a:t>տոկոս</a:t>
            </a:r>
            <a:r>
              <a:rPr dirty="0"/>
              <a:t> (LSTAT), </a:t>
            </a:r>
            <a:r>
              <a:rPr dirty="0" err="1"/>
              <a:t>հարկային</a:t>
            </a:r>
            <a:r>
              <a:rPr dirty="0"/>
              <a:t> </a:t>
            </a:r>
            <a:r>
              <a:rPr dirty="0" err="1"/>
              <a:t>դրույքաչափ</a:t>
            </a:r>
            <a:r>
              <a:rPr dirty="0"/>
              <a:t> (TAX), </a:t>
            </a:r>
            <a:r>
              <a:rPr dirty="0" err="1"/>
              <a:t>մայրուղիների</a:t>
            </a:r>
            <a:r>
              <a:rPr dirty="0"/>
              <a:t> </a:t>
            </a:r>
            <a:r>
              <a:rPr dirty="0" err="1"/>
              <a:t>հասանելիություն</a:t>
            </a:r>
            <a:r>
              <a:rPr dirty="0"/>
              <a:t> (RAD), </a:t>
            </a:r>
            <a:r>
              <a:rPr dirty="0" err="1"/>
              <a:t>ուսուցիչ</a:t>
            </a:r>
            <a:r>
              <a:rPr dirty="0"/>
              <a:t>–</a:t>
            </a:r>
            <a:r>
              <a:rPr dirty="0" err="1"/>
              <a:t>աշակերտ</a:t>
            </a:r>
            <a:r>
              <a:rPr dirty="0"/>
              <a:t> </a:t>
            </a:r>
            <a:r>
              <a:rPr dirty="0" err="1"/>
              <a:t>հարաբերակցություն</a:t>
            </a:r>
            <a:r>
              <a:rPr dirty="0"/>
              <a:t> (PTRATIO) և </a:t>
            </a:r>
            <a:r>
              <a:rPr dirty="0" err="1"/>
              <a:t>այլն</a:t>
            </a:r>
            <a:r>
              <a:rPr dirty="0"/>
              <a:t>։ </a:t>
            </a:r>
            <a:r>
              <a:rPr dirty="0" err="1"/>
              <a:t>Թիրախ</a:t>
            </a:r>
            <a:r>
              <a:rPr dirty="0"/>
              <a:t> </a:t>
            </a:r>
            <a:r>
              <a:rPr dirty="0" err="1"/>
              <a:t>փոփոխականն</a:t>
            </a:r>
            <a:r>
              <a:rPr dirty="0"/>
              <a:t> է MEDV-ը՝ </a:t>
            </a:r>
            <a:r>
              <a:rPr dirty="0" err="1"/>
              <a:t>տվյալ</a:t>
            </a:r>
            <a:r>
              <a:rPr dirty="0"/>
              <a:t> </a:t>
            </a:r>
            <a:r>
              <a:rPr dirty="0" err="1"/>
              <a:t>տարածքի</a:t>
            </a:r>
            <a:r>
              <a:rPr dirty="0"/>
              <a:t> </a:t>
            </a:r>
            <a:r>
              <a:rPr dirty="0" err="1"/>
              <a:t>տների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արժեքը</a:t>
            </a:r>
            <a:r>
              <a:rPr dirty="0"/>
              <a:t> </a:t>
            </a:r>
            <a:r>
              <a:rPr dirty="0" err="1"/>
              <a:t>հազար</a:t>
            </a:r>
            <a:r>
              <a:rPr dirty="0"/>
              <a:t> </a:t>
            </a:r>
            <a:r>
              <a:rPr dirty="0" err="1"/>
              <a:t>դոլարներով</a:t>
            </a:r>
            <a:r>
              <a:rPr dirty="0"/>
              <a:t>։ Dataset-ը </a:t>
            </a:r>
            <a:r>
              <a:rPr dirty="0" err="1"/>
              <a:t>չունի</a:t>
            </a:r>
            <a:r>
              <a:rPr dirty="0"/>
              <a:t> </a:t>
            </a:r>
            <a:r>
              <a:rPr dirty="0" err="1"/>
              <a:t>բացակայող</a:t>
            </a:r>
            <a:r>
              <a:rPr dirty="0"/>
              <a:t> </a:t>
            </a:r>
            <a:r>
              <a:rPr dirty="0" err="1"/>
              <a:t>արժեքներ</a:t>
            </a:r>
            <a:r>
              <a:rPr dirty="0"/>
              <a:t>, </a:t>
            </a:r>
            <a:r>
              <a:rPr dirty="0" err="1"/>
              <a:t>բայց</a:t>
            </a:r>
            <a:r>
              <a:rPr dirty="0"/>
              <a:t> </a:t>
            </a:r>
            <a:r>
              <a:rPr dirty="0" err="1"/>
              <a:t>հատկանիշները</a:t>
            </a:r>
            <a:r>
              <a:rPr dirty="0"/>
              <a:t> </a:t>
            </a:r>
            <a:r>
              <a:rPr dirty="0" err="1"/>
              <a:t>տարբեր</a:t>
            </a:r>
            <a:r>
              <a:rPr dirty="0"/>
              <a:t> </a:t>
            </a:r>
            <a:r>
              <a:rPr dirty="0" err="1"/>
              <a:t>մաշտաբներում</a:t>
            </a:r>
            <a:r>
              <a:rPr dirty="0"/>
              <a:t> են, </a:t>
            </a:r>
            <a:r>
              <a:rPr dirty="0" err="1"/>
              <a:t>ինչը</a:t>
            </a:r>
            <a:r>
              <a:rPr dirty="0"/>
              <a:t> </a:t>
            </a:r>
            <a:r>
              <a:rPr dirty="0" err="1"/>
              <a:t>հետագայում</a:t>
            </a:r>
            <a:r>
              <a:rPr dirty="0"/>
              <a:t> </a:t>
            </a:r>
            <a:r>
              <a:rPr dirty="0" err="1"/>
              <a:t>պահանջում</a:t>
            </a:r>
            <a:r>
              <a:rPr dirty="0"/>
              <a:t> է </a:t>
            </a:r>
            <a:r>
              <a:rPr dirty="0" err="1"/>
              <a:t>ստանդարտացում</a:t>
            </a:r>
            <a:r>
              <a:rPr dirty="0"/>
              <a:t>։ </a:t>
            </a:r>
            <a:r>
              <a:rPr dirty="0" err="1"/>
              <a:t>Այս</a:t>
            </a:r>
            <a:r>
              <a:rPr dirty="0"/>
              <a:t> </a:t>
            </a:r>
            <a:r>
              <a:rPr dirty="0" err="1"/>
              <a:t>հավաքածուն</a:t>
            </a:r>
            <a:r>
              <a:rPr dirty="0"/>
              <a:t> </a:t>
            </a:r>
            <a:r>
              <a:rPr dirty="0" err="1"/>
              <a:t>լայնորեն</a:t>
            </a:r>
            <a:r>
              <a:rPr dirty="0"/>
              <a:t> </a:t>
            </a:r>
            <a:r>
              <a:rPr dirty="0" err="1"/>
              <a:t>օգտագործվում</a:t>
            </a:r>
            <a:r>
              <a:rPr dirty="0"/>
              <a:t> է ML </a:t>
            </a:r>
            <a:r>
              <a:rPr dirty="0" err="1"/>
              <a:t>ուսուցման</a:t>
            </a:r>
            <a:r>
              <a:rPr dirty="0"/>
              <a:t> և </a:t>
            </a:r>
            <a:r>
              <a:rPr dirty="0" err="1"/>
              <a:t>մոդելների</a:t>
            </a:r>
            <a:r>
              <a:rPr dirty="0"/>
              <a:t> </a:t>
            </a:r>
            <a:r>
              <a:rPr dirty="0" err="1"/>
              <a:t>համեմատության</a:t>
            </a:r>
            <a:r>
              <a:rPr dirty="0"/>
              <a:t> </a:t>
            </a:r>
            <a:r>
              <a:rPr dirty="0" err="1"/>
              <a:t>դասական</a:t>
            </a:r>
            <a:r>
              <a:rPr dirty="0"/>
              <a:t> </a:t>
            </a:r>
            <a:r>
              <a:rPr dirty="0" err="1"/>
              <a:t>օրինակներում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Տվյալների նախնական վերլուծություն և նախապատրաստում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243309" cy="3454937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Նախնական</a:t>
            </a:r>
            <a:r>
              <a:rPr dirty="0"/>
              <a:t> </a:t>
            </a:r>
            <a:r>
              <a:rPr dirty="0" err="1"/>
              <a:t>վիճակագրական</a:t>
            </a:r>
            <a:r>
              <a:rPr dirty="0"/>
              <a:t> </a:t>
            </a:r>
            <a:r>
              <a:rPr dirty="0" err="1"/>
              <a:t>վերլուծությամբ</a:t>
            </a:r>
            <a:r>
              <a:rPr dirty="0"/>
              <a:t> </a:t>
            </a:r>
            <a:r>
              <a:rPr dirty="0" err="1"/>
              <a:t>ուսումնասիրվել</a:t>
            </a:r>
            <a:r>
              <a:rPr dirty="0"/>
              <a:t> են </a:t>
            </a:r>
            <a:r>
              <a:rPr dirty="0" err="1"/>
              <a:t>հատկանիշների</a:t>
            </a:r>
            <a:r>
              <a:rPr dirty="0"/>
              <a:t> </a:t>
            </a:r>
            <a:r>
              <a:rPr dirty="0" err="1"/>
              <a:t>բաշխումները</a:t>
            </a:r>
            <a:r>
              <a:rPr dirty="0"/>
              <a:t>, </a:t>
            </a:r>
            <a:r>
              <a:rPr dirty="0" err="1"/>
              <a:t>միջինները</a:t>
            </a:r>
            <a:r>
              <a:rPr dirty="0"/>
              <a:t>, </a:t>
            </a:r>
            <a:r>
              <a:rPr dirty="0" err="1"/>
              <a:t>տիրույթները</a:t>
            </a:r>
            <a:r>
              <a:rPr dirty="0"/>
              <a:t> և </a:t>
            </a:r>
            <a:r>
              <a:rPr dirty="0" err="1"/>
              <a:t>աուտլայերների</a:t>
            </a:r>
            <a:r>
              <a:rPr dirty="0"/>
              <a:t> </a:t>
            </a:r>
            <a:r>
              <a:rPr dirty="0" err="1"/>
              <a:t>առկայությունը</a:t>
            </a:r>
            <a:r>
              <a:rPr dirty="0"/>
              <a:t>։ Scatter plot-</a:t>
            </a:r>
            <a:r>
              <a:rPr dirty="0" err="1"/>
              <a:t>ները</a:t>
            </a:r>
            <a:r>
              <a:rPr dirty="0"/>
              <a:t> </a:t>
            </a:r>
            <a:r>
              <a:rPr dirty="0" err="1"/>
              <a:t>ցույց</a:t>
            </a:r>
            <a:r>
              <a:rPr dirty="0"/>
              <a:t> են </a:t>
            </a:r>
            <a:r>
              <a:rPr dirty="0" err="1"/>
              <a:t>տվել</a:t>
            </a:r>
            <a:r>
              <a:rPr dirty="0"/>
              <a:t>, </a:t>
            </a:r>
            <a:r>
              <a:rPr dirty="0" err="1"/>
              <a:t>որ</a:t>
            </a:r>
            <a:r>
              <a:rPr dirty="0"/>
              <a:t> RM-ն </a:t>
            </a:r>
            <a:r>
              <a:rPr dirty="0" err="1"/>
              <a:t>ունի</a:t>
            </a:r>
            <a:r>
              <a:rPr dirty="0"/>
              <a:t> </a:t>
            </a:r>
            <a:r>
              <a:rPr dirty="0" err="1"/>
              <a:t>դրական</a:t>
            </a:r>
            <a:r>
              <a:rPr dirty="0"/>
              <a:t>, </a:t>
            </a:r>
            <a:r>
              <a:rPr dirty="0" err="1"/>
              <a:t>իսկ</a:t>
            </a:r>
            <a:r>
              <a:rPr dirty="0"/>
              <a:t> LSTAT-ը՝ </a:t>
            </a:r>
            <a:r>
              <a:rPr dirty="0" err="1"/>
              <a:t>բացասական</a:t>
            </a:r>
            <a:r>
              <a:rPr dirty="0"/>
              <a:t> </a:t>
            </a:r>
            <a:r>
              <a:rPr dirty="0" err="1"/>
              <a:t>կապ</a:t>
            </a:r>
            <a:r>
              <a:rPr dirty="0"/>
              <a:t> MEDV-ի </a:t>
            </a:r>
            <a:r>
              <a:rPr dirty="0" err="1"/>
              <a:t>հետ</a:t>
            </a:r>
            <a:r>
              <a:rPr dirty="0"/>
              <a:t>։ </a:t>
            </a:r>
            <a:r>
              <a:rPr dirty="0" err="1"/>
              <a:t>Կորելացիոն</a:t>
            </a:r>
            <a:r>
              <a:rPr dirty="0"/>
              <a:t> </a:t>
            </a:r>
            <a:r>
              <a:rPr dirty="0" err="1"/>
              <a:t>մատրիցը</a:t>
            </a:r>
            <a:r>
              <a:rPr dirty="0"/>
              <a:t> </a:t>
            </a:r>
            <a:r>
              <a:rPr dirty="0" err="1"/>
              <a:t>բացահայտել</a:t>
            </a:r>
            <a:r>
              <a:rPr dirty="0"/>
              <a:t> է </a:t>
            </a:r>
            <a:r>
              <a:rPr dirty="0" err="1"/>
              <a:t>նաև</a:t>
            </a:r>
            <a:r>
              <a:rPr dirty="0"/>
              <a:t> TAX և RAD </a:t>
            </a:r>
            <a:r>
              <a:rPr dirty="0" err="1"/>
              <a:t>հատկանիշների</a:t>
            </a:r>
            <a:r>
              <a:rPr dirty="0"/>
              <a:t> </a:t>
            </a:r>
            <a:r>
              <a:rPr dirty="0" err="1"/>
              <a:t>ուժեղ</a:t>
            </a:r>
            <a:r>
              <a:rPr dirty="0"/>
              <a:t> </a:t>
            </a:r>
            <a:r>
              <a:rPr dirty="0" err="1"/>
              <a:t>փոխկապակցվածությունը</a:t>
            </a:r>
            <a:r>
              <a:rPr dirty="0"/>
              <a:t>։ Dataset-ը </a:t>
            </a:r>
            <a:r>
              <a:rPr dirty="0" err="1"/>
              <a:t>բաժանվել</a:t>
            </a:r>
            <a:r>
              <a:rPr dirty="0"/>
              <a:t> է train և test </a:t>
            </a:r>
            <a:r>
              <a:rPr dirty="0" err="1"/>
              <a:t>ենթահավաքածուների</a:t>
            </a:r>
            <a:r>
              <a:rPr dirty="0"/>
              <a:t>՝ 75%/25% </a:t>
            </a:r>
            <a:r>
              <a:rPr dirty="0" err="1"/>
              <a:t>հարաբերակցությամբ</a:t>
            </a:r>
            <a:r>
              <a:rPr dirty="0"/>
              <a:t>։ </a:t>
            </a:r>
            <a:r>
              <a:rPr dirty="0" err="1"/>
              <a:t>Քանի</a:t>
            </a:r>
            <a:r>
              <a:rPr dirty="0"/>
              <a:t>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հատկանիշները</a:t>
            </a:r>
            <a:r>
              <a:rPr dirty="0"/>
              <a:t> </a:t>
            </a:r>
            <a:r>
              <a:rPr dirty="0" err="1"/>
              <a:t>ունեն</a:t>
            </a:r>
            <a:r>
              <a:rPr dirty="0"/>
              <a:t> </a:t>
            </a:r>
            <a:r>
              <a:rPr dirty="0" err="1"/>
              <a:t>տարբեր</a:t>
            </a:r>
            <a:r>
              <a:rPr dirty="0"/>
              <a:t> </a:t>
            </a:r>
            <a:r>
              <a:rPr dirty="0" err="1"/>
              <a:t>թվային</a:t>
            </a:r>
            <a:r>
              <a:rPr dirty="0"/>
              <a:t> </a:t>
            </a:r>
            <a:r>
              <a:rPr dirty="0" err="1"/>
              <a:t>մասշտաբներ</a:t>
            </a:r>
            <a:r>
              <a:rPr dirty="0"/>
              <a:t>, </a:t>
            </a:r>
            <a:r>
              <a:rPr dirty="0" err="1"/>
              <a:t>կիրառվել</a:t>
            </a:r>
            <a:r>
              <a:rPr dirty="0"/>
              <a:t> է </a:t>
            </a:r>
            <a:r>
              <a:rPr dirty="0" err="1"/>
              <a:t>ստանդարտացում</a:t>
            </a:r>
            <a:r>
              <a:rPr dirty="0"/>
              <a:t>՝ </a:t>
            </a:r>
            <a:r>
              <a:rPr dirty="0" err="1"/>
              <a:t>միջինը</a:t>
            </a:r>
            <a:r>
              <a:rPr dirty="0"/>
              <a:t> </a:t>
            </a:r>
            <a:r>
              <a:rPr dirty="0" err="1"/>
              <a:t>հանելով</a:t>
            </a:r>
            <a:r>
              <a:rPr dirty="0"/>
              <a:t> և </a:t>
            </a:r>
            <a:r>
              <a:rPr dirty="0" err="1"/>
              <a:t>բաժանելով</a:t>
            </a:r>
            <a:r>
              <a:rPr dirty="0"/>
              <a:t> </a:t>
            </a:r>
            <a:r>
              <a:rPr dirty="0" err="1"/>
              <a:t>ստանդարտ</a:t>
            </a:r>
            <a:r>
              <a:rPr dirty="0"/>
              <a:t> </a:t>
            </a:r>
            <a:r>
              <a:rPr dirty="0" err="1"/>
              <a:t>շեղման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։ </a:t>
            </a:r>
            <a:r>
              <a:rPr dirty="0" err="1"/>
              <a:t>Նույն</a:t>
            </a:r>
            <a:r>
              <a:rPr dirty="0"/>
              <a:t> </a:t>
            </a:r>
            <a:r>
              <a:rPr dirty="0" err="1"/>
              <a:t>պարամետրերը</a:t>
            </a:r>
            <a:r>
              <a:rPr dirty="0"/>
              <a:t> </a:t>
            </a:r>
            <a:r>
              <a:rPr dirty="0" err="1"/>
              <a:t>օգտագործվել</a:t>
            </a:r>
            <a:r>
              <a:rPr dirty="0"/>
              <a:t> են և՛ train, և՛ test </a:t>
            </a:r>
            <a:r>
              <a:rPr dirty="0" err="1"/>
              <a:t>ընտրանքների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՝ </a:t>
            </a:r>
            <a:r>
              <a:rPr dirty="0" err="1"/>
              <a:t>ապահովելով</a:t>
            </a:r>
            <a:r>
              <a:rPr dirty="0"/>
              <a:t> </a:t>
            </a:r>
            <a:r>
              <a:rPr dirty="0" err="1"/>
              <a:t>ճիշտ</a:t>
            </a:r>
            <a:r>
              <a:rPr dirty="0"/>
              <a:t> </a:t>
            </a:r>
            <a:r>
              <a:rPr dirty="0" err="1"/>
              <a:t>համադրելիություն</a:t>
            </a:r>
            <a:r>
              <a:rPr dirty="0"/>
              <a:t> </a:t>
            </a:r>
            <a:r>
              <a:rPr dirty="0" err="1"/>
              <a:t>մոդելի</a:t>
            </a:r>
            <a:r>
              <a:rPr dirty="0"/>
              <a:t> </a:t>
            </a:r>
            <a:r>
              <a:rPr dirty="0" err="1"/>
              <a:t>ուսուցման</a:t>
            </a:r>
            <a:r>
              <a:rPr dirty="0"/>
              <a:t> </a:t>
            </a:r>
            <a:r>
              <a:rPr dirty="0" err="1"/>
              <a:t>ժամանակ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Մոդելների ծրագրային իրագործումը Python-ում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053187" cy="3545472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Իրագործումը</a:t>
            </a:r>
            <a:r>
              <a:rPr dirty="0"/>
              <a:t> </a:t>
            </a:r>
            <a:r>
              <a:rPr dirty="0" err="1"/>
              <a:t>կատարվել</a:t>
            </a:r>
            <a:r>
              <a:rPr dirty="0"/>
              <a:t> է Python </a:t>
            </a:r>
            <a:r>
              <a:rPr dirty="0" err="1"/>
              <a:t>ծրագրավորման</a:t>
            </a:r>
            <a:r>
              <a:rPr dirty="0"/>
              <a:t> </a:t>
            </a:r>
            <a:r>
              <a:rPr dirty="0" err="1"/>
              <a:t>լեզվով</a:t>
            </a:r>
            <a:r>
              <a:rPr dirty="0"/>
              <a:t>՝ </a:t>
            </a:r>
            <a:r>
              <a:rPr dirty="0" err="1"/>
              <a:t>օգտագործելով</a:t>
            </a:r>
            <a:r>
              <a:rPr dirty="0"/>
              <a:t> NumPy, pandas, matplotlib, seaborn և scikit-learn </a:t>
            </a:r>
            <a:r>
              <a:rPr dirty="0" err="1"/>
              <a:t>գրադարանները</a:t>
            </a:r>
            <a:r>
              <a:rPr dirty="0"/>
              <a:t>։ </a:t>
            </a:r>
            <a:r>
              <a:rPr dirty="0" err="1"/>
              <a:t>Ստեղծվել</a:t>
            </a:r>
            <a:r>
              <a:rPr dirty="0"/>
              <a:t> է </a:t>
            </a:r>
            <a:r>
              <a:rPr dirty="0" err="1"/>
              <a:t>BaseLinearRegression</a:t>
            </a:r>
            <a:r>
              <a:rPr dirty="0"/>
              <a:t> </a:t>
            </a:r>
            <a:r>
              <a:rPr dirty="0" err="1"/>
              <a:t>բազային</a:t>
            </a:r>
            <a:r>
              <a:rPr dirty="0"/>
              <a:t> </a:t>
            </a:r>
            <a:r>
              <a:rPr dirty="0" err="1"/>
              <a:t>դաս</a:t>
            </a:r>
            <a:r>
              <a:rPr dirty="0"/>
              <a:t>, </a:t>
            </a:r>
            <a:r>
              <a:rPr dirty="0" err="1"/>
              <a:t>որը</a:t>
            </a:r>
            <a:r>
              <a:rPr dirty="0"/>
              <a:t> </a:t>
            </a:r>
            <a:r>
              <a:rPr dirty="0" err="1"/>
              <a:t>իր</a:t>
            </a:r>
            <a:r>
              <a:rPr dirty="0"/>
              <a:t> </a:t>
            </a:r>
            <a:r>
              <a:rPr dirty="0" err="1"/>
              <a:t>մեջ</a:t>
            </a:r>
            <a:r>
              <a:rPr dirty="0"/>
              <a:t> </a:t>
            </a:r>
            <a:r>
              <a:rPr dirty="0" err="1"/>
              <a:t>ներառում</a:t>
            </a:r>
            <a:r>
              <a:rPr dirty="0"/>
              <a:t> է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մոդելի</a:t>
            </a:r>
            <a:r>
              <a:rPr dirty="0"/>
              <a:t> </a:t>
            </a:r>
            <a:r>
              <a:rPr dirty="0" err="1"/>
              <a:t>կառուցումը</a:t>
            </a:r>
            <a:r>
              <a:rPr dirty="0"/>
              <a:t>, </a:t>
            </a:r>
            <a:r>
              <a:rPr dirty="0" err="1"/>
              <a:t>կանխատեսման</a:t>
            </a:r>
            <a:r>
              <a:rPr dirty="0"/>
              <a:t> </a:t>
            </a:r>
            <a:r>
              <a:rPr dirty="0" err="1"/>
              <a:t>ֆունկցիան</a:t>
            </a:r>
            <a:r>
              <a:rPr dirty="0"/>
              <a:t> և </a:t>
            </a:r>
            <a:r>
              <a:rPr dirty="0" err="1"/>
              <a:t>գրադիենտային</a:t>
            </a:r>
            <a:r>
              <a:rPr dirty="0"/>
              <a:t> </a:t>
            </a:r>
            <a:r>
              <a:rPr dirty="0" err="1"/>
              <a:t>իջեցմամբ</a:t>
            </a:r>
            <a:r>
              <a:rPr dirty="0"/>
              <a:t> </a:t>
            </a:r>
            <a:r>
              <a:rPr dirty="0" err="1"/>
              <a:t>ուսուցումը</a:t>
            </a:r>
            <a:r>
              <a:rPr dirty="0"/>
              <a:t> MSE </a:t>
            </a:r>
            <a:r>
              <a:rPr dirty="0" err="1"/>
              <a:t>կորուստով</a:t>
            </a:r>
            <a:r>
              <a:rPr dirty="0"/>
              <a:t>։ </a:t>
            </a:r>
            <a:r>
              <a:rPr dirty="0" err="1"/>
              <a:t>RidgeRegression</a:t>
            </a:r>
            <a:r>
              <a:rPr dirty="0"/>
              <a:t> և </a:t>
            </a:r>
            <a:r>
              <a:rPr dirty="0" err="1"/>
              <a:t>LassoRegression</a:t>
            </a:r>
            <a:r>
              <a:rPr dirty="0"/>
              <a:t> </a:t>
            </a:r>
            <a:r>
              <a:rPr dirty="0" err="1"/>
              <a:t>դասերը</a:t>
            </a:r>
            <a:r>
              <a:rPr dirty="0"/>
              <a:t> </a:t>
            </a:r>
            <a:r>
              <a:rPr dirty="0" err="1"/>
              <a:t>ժառանգվում</a:t>
            </a:r>
            <a:r>
              <a:rPr dirty="0"/>
              <a:t> են </a:t>
            </a:r>
            <a:r>
              <a:rPr dirty="0" err="1"/>
              <a:t>բազային</a:t>
            </a:r>
            <a:r>
              <a:rPr dirty="0"/>
              <a:t> </a:t>
            </a:r>
            <a:r>
              <a:rPr dirty="0" err="1"/>
              <a:t>դասից</a:t>
            </a:r>
            <a:r>
              <a:rPr dirty="0"/>
              <a:t> և </a:t>
            </a:r>
            <a:r>
              <a:rPr dirty="0" err="1"/>
              <a:t>վերասահմանում</a:t>
            </a:r>
            <a:r>
              <a:rPr dirty="0"/>
              <a:t> են penalty և </a:t>
            </a:r>
            <a:r>
              <a:rPr dirty="0" err="1"/>
              <a:t>penalty_grad</a:t>
            </a:r>
            <a:r>
              <a:rPr dirty="0"/>
              <a:t> </a:t>
            </a:r>
            <a:r>
              <a:rPr dirty="0" err="1"/>
              <a:t>մեթոդները</a:t>
            </a:r>
            <a:r>
              <a:rPr dirty="0"/>
              <a:t>՝ </a:t>
            </a:r>
            <a:r>
              <a:rPr dirty="0" err="1"/>
              <a:t>համապատասխանաբար</a:t>
            </a:r>
            <a:r>
              <a:rPr dirty="0"/>
              <a:t> L2 և L1 </a:t>
            </a:r>
            <a:r>
              <a:rPr dirty="0" err="1"/>
              <a:t>կարգավորումների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։ </a:t>
            </a:r>
            <a:r>
              <a:rPr dirty="0" err="1"/>
              <a:t>Ընտրվել</a:t>
            </a:r>
            <a:r>
              <a:rPr dirty="0"/>
              <a:t> են alpha = 0.1, </a:t>
            </a:r>
            <a:r>
              <a:rPr dirty="0" err="1"/>
              <a:t>learning_rate</a:t>
            </a:r>
            <a:r>
              <a:rPr dirty="0"/>
              <a:t> = 10⁻³ և </a:t>
            </a:r>
            <a:r>
              <a:rPr dirty="0" err="1"/>
              <a:t>n_iters</a:t>
            </a:r>
            <a:r>
              <a:rPr dirty="0"/>
              <a:t> = 10000 </a:t>
            </a:r>
            <a:r>
              <a:rPr dirty="0" err="1"/>
              <a:t>պարամետրերը</a:t>
            </a:r>
            <a:r>
              <a:rPr dirty="0"/>
              <a:t>, </a:t>
            </a:r>
            <a:r>
              <a:rPr dirty="0" err="1"/>
              <a:t>որոնք</a:t>
            </a:r>
            <a:r>
              <a:rPr dirty="0"/>
              <a:t> </a:t>
            </a:r>
            <a:r>
              <a:rPr dirty="0" err="1"/>
              <a:t>ապահովում</a:t>
            </a:r>
            <a:r>
              <a:rPr dirty="0"/>
              <a:t> են </a:t>
            </a:r>
            <a:r>
              <a:rPr dirty="0" err="1"/>
              <a:t>կորուստի</a:t>
            </a:r>
            <a:r>
              <a:rPr dirty="0"/>
              <a:t> </a:t>
            </a:r>
            <a:r>
              <a:rPr dirty="0" err="1"/>
              <a:t>կայուն</a:t>
            </a:r>
            <a:r>
              <a:rPr dirty="0"/>
              <a:t> </a:t>
            </a:r>
            <a:r>
              <a:rPr dirty="0" err="1"/>
              <a:t>նվազում</a:t>
            </a:r>
            <a:r>
              <a:rPr dirty="0"/>
              <a:t>։ </a:t>
            </a:r>
            <a:r>
              <a:rPr dirty="0" err="1"/>
              <a:t>Այս</a:t>
            </a:r>
            <a:r>
              <a:rPr dirty="0"/>
              <a:t> </a:t>
            </a:r>
            <a:r>
              <a:rPr dirty="0" err="1"/>
              <a:t>մոտեցումը</a:t>
            </a:r>
            <a:r>
              <a:rPr dirty="0"/>
              <a:t> </a:t>
            </a:r>
            <a:r>
              <a:rPr dirty="0" err="1"/>
              <a:t>թույլ</a:t>
            </a:r>
            <a:r>
              <a:rPr dirty="0"/>
              <a:t> է </a:t>
            </a:r>
            <a:r>
              <a:rPr dirty="0" err="1"/>
              <a:t>տվել</a:t>
            </a:r>
            <a:r>
              <a:rPr dirty="0"/>
              <a:t> </a:t>
            </a:r>
            <a:r>
              <a:rPr dirty="0" err="1"/>
              <a:t>խորությամբ</a:t>
            </a:r>
            <a:r>
              <a:rPr dirty="0"/>
              <a:t> </a:t>
            </a:r>
            <a:r>
              <a:rPr dirty="0" err="1"/>
              <a:t>հասկանալ</a:t>
            </a:r>
            <a:r>
              <a:rPr dirty="0"/>
              <a:t> </a:t>
            </a:r>
            <a:r>
              <a:rPr dirty="0" err="1"/>
              <a:t>գրադիենտների</a:t>
            </a:r>
            <a:r>
              <a:rPr dirty="0"/>
              <a:t> </a:t>
            </a:r>
            <a:r>
              <a:rPr dirty="0" err="1"/>
              <a:t>հաշվարկի</a:t>
            </a:r>
            <a:r>
              <a:rPr dirty="0"/>
              <a:t> և </a:t>
            </a:r>
            <a:r>
              <a:rPr dirty="0" err="1"/>
              <a:t>կարգավորման</a:t>
            </a:r>
            <a:r>
              <a:rPr dirty="0"/>
              <a:t> </a:t>
            </a:r>
            <a:r>
              <a:rPr dirty="0" err="1"/>
              <a:t>իրական</a:t>
            </a:r>
            <a:r>
              <a:rPr dirty="0"/>
              <a:t> </a:t>
            </a:r>
            <a:r>
              <a:rPr dirty="0" err="1"/>
              <a:t>ազդեցությունը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Փորձարկման արդյունքներ և մոդելների համեմատություն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143721" cy="3744648"/>
          </a:xfrm>
        </p:spPr>
        <p:txBody>
          <a:bodyPr>
            <a:normAutofit lnSpcReduction="10000"/>
          </a:bodyPr>
          <a:lstStyle/>
          <a:p>
            <a:r>
              <a:rPr dirty="0" err="1"/>
              <a:t>Մոդելների</a:t>
            </a:r>
            <a:r>
              <a:rPr dirty="0"/>
              <a:t> </a:t>
            </a:r>
            <a:r>
              <a:rPr dirty="0" err="1"/>
              <a:t>որակը</a:t>
            </a:r>
            <a:r>
              <a:rPr dirty="0"/>
              <a:t> </a:t>
            </a:r>
            <a:r>
              <a:rPr dirty="0" err="1"/>
              <a:t>գնահատվել</a:t>
            </a:r>
            <a:r>
              <a:rPr dirty="0"/>
              <a:t> է </a:t>
            </a:r>
            <a:r>
              <a:rPr dirty="0" err="1"/>
              <a:t>թեստային</a:t>
            </a:r>
            <a:r>
              <a:rPr dirty="0"/>
              <a:t> </a:t>
            </a:r>
            <a:r>
              <a:rPr dirty="0" err="1"/>
              <a:t>ենթահավաքածուի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՝ </a:t>
            </a:r>
            <a:r>
              <a:rPr dirty="0" err="1"/>
              <a:t>օգտագործելով</a:t>
            </a:r>
            <a:r>
              <a:rPr dirty="0"/>
              <a:t> MSE և R² </a:t>
            </a:r>
            <a:r>
              <a:rPr dirty="0" err="1"/>
              <a:t>չափանիշները</a:t>
            </a:r>
            <a:r>
              <a:rPr dirty="0"/>
              <a:t>։ </a:t>
            </a:r>
            <a:r>
              <a:rPr dirty="0" err="1"/>
              <a:t>Արդյունքները</a:t>
            </a:r>
            <a:r>
              <a:rPr dirty="0"/>
              <a:t> </a:t>
            </a:r>
            <a:r>
              <a:rPr dirty="0" err="1"/>
              <a:t>ցույց</a:t>
            </a:r>
            <a:r>
              <a:rPr dirty="0"/>
              <a:t> են </a:t>
            </a:r>
            <a:r>
              <a:rPr dirty="0" err="1"/>
              <a:t>տվել</a:t>
            </a:r>
            <a:r>
              <a:rPr dirty="0"/>
              <a:t>, </a:t>
            </a:r>
            <a:r>
              <a:rPr dirty="0" err="1"/>
              <a:t>որ</a:t>
            </a:r>
            <a:r>
              <a:rPr dirty="0"/>
              <a:t> Ridge </a:t>
            </a:r>
            <a:r>
              <a:rPr dirty="0" err="1"/>
              <a:t>մոդելը</a:t>
            </a:r>
            <a:r>
              <a:rPr dirty="0"/>
              <a:t>, </a:t>
            </a:r>
            <a:r>
              <a:rPr dirty="0" err="1"/>
              <a:t>որպես</a:t>
            </a:r>
            <a:r>
              <a:rPr dirty="0"/>
              <a:t> </a:t>
            </a:r>
            <a:r>
              <a:rPr dirty="0" err="1"/>
              <a:t>կանոն</a:t>
            </a:r>
            <a:r>
              <a:rPr dirty="0"/>
              <a:t>, </a:t>
            </a:r>
            <a:r>
              <a:rPr dirty="0" err="1"/>
              <a:t>ապահովում</a:t>
            </a:r>
            <a:r>
              <a:rPr dirty="0"/>
              <a:t> է </a:t>
            </a:r>
            <a:r>
              <a:rPr dirty="0" err="1"/>
              <a:t>ավելի</a:t>
            </a:r>
            <a:r>
              <a:rPr dirty="0"/>
              <a:t> </a:t>
            </a:r>
            <a:r>
              <a:rPr dirty="0" err="1"/>
              <a:t>ցածր</a:t>
            </a:r>
            <a:r>
              <a:rPr dirty="0"/>
              <a:t> </a:t>
            </a:r>
            <a:r>
              <a:rPr dirty="0" err="1"/>
              <a:t>միջին</a:t>
            </a:r>
            <a:r>
              <a:rPr dirty="0"/>
              <a:t> </a:t>
            </a:r>
            <a:r>
              <a:rPr dirty="0" err="1"/>
              <a:t>քառակուսային</a:t>
            </a:r>
            <a:r>
              <a:rPr dirty="0"/>
              <a:t> </a:t>
            </a:r>
            <a:r>
              <a:rPr dirty="0" err="1"/>
              <a:t>սխալ</a:t>
            </a:r>
            <a:r>
              <a:rPr dirty="0"/>
              <a:t> և </a:t>
            </a:r>
            <a:r>
              <a:rPr dirty="0" err="1"/>
              <a:t>ավելի</a:t>
            </a:r>
            <a:r>
              <a:rPr dirty="0"/>
              <a:t> </a:t>
            </a:r>
            <a:r>
              <a:rPr dirty="0" err="1"/>
              <a:t>բարձր</a:t>
            </a:r>
            <a:r>
              <a:rPr dirty="0"/>
              <a:t> </a:t>
            </a:r>
            <a:r>
              <a:rPr dirty="0" err="1"/>
              <a:t>բացատրելիության</a:t>
            </a:r>
            <a:r>
              <a:rPr dirty="0"/>
              <a:t> </a:t>
            </a:r>
            <a:r>
              <a:rPr dirty="0" err="1"/>
              <a:t>գործակից</a:t>
            </a:r>
            <a:r>
              <a:rPr dirty="0"/>
              <a:t>՝ </a:t>
            </a:r>
            <a:r>
              <a:rPr dirty="0" err="1"/>
              <a:t>ցուցադրելով</a:t>
            </a:r>
            <a:r>
              <a:rPr dirty="0"/>
              <a:t> </a:t>
            </a:r>
            <a:r>
              <a:rPr dirty="0" err="1"/>
              <a:t>բարձր</a:t>
            </a:r>
            <a:r>
              <a:rPr dirty="0"/>
              <a:t> generalization։ Lasso </a:t>
            </a:r>
            <a:r>
              <a:rPr dirty="0" err="1"/>
              <a:t>մոդելի</a:t>
            </a:r>
            <a:r>
              <a:rPr dirty="0"/>
              <a:t> </a:t>
            </a:r>
            <a:r>
              <a:rPr dirty="0" err="1"/>
              <a:t>սխալը</a:t>
            </a:r>
            <a:r>
              <a:rPr dirty="0"/>
              <a:t> </a:t>
            </a:r>
            <a:r>
              <a:rPr dirty="0" err="1"/>
              <a:t>հաճախ</a:t>
            </a:r>
            <a:r>
              <a:rPr dirty="0"/>
              <a:t> </a:t>
            </a:r>
            <a:r>
              <a:rPr dirty="0" err="1"/>
              <a:t>մոտ</a:t>
            </a:r>
            <a:r>
              <a:rPr dirty="0"/>
              <a:t> է Ridge-ի </a:t>
            </a:r>
            <a:r>
              <a:rPr dirty="0" err="1"/>
              <a:t>արժեքին</a:t>
            </a:r>
            <a:r>
              <a:rPr dirty="0"/>
              <a:t>, </a:t>
            </a:r>
            <a:r>
              <a:rPr dirty="0" err="1"/>
              <a:t>սակայն</a:t>
            </a:r>
            <a:r>
              <a:rPr dirty="0"/>
              <a:t> </a:t>
            </a:r>
            <a:r>
              <a:rPr dirty="0" err="1"/>
              <a:t>դրա</a:t>
            </a:r>
            <a:r>
              <a:rPr dirty="0"/>
              <a:t> </a:t>
            </a:r>
            <a:r>
              <a:rPr dirty="0" err="1"/>
              <a:t>առավելությունն</a:t>
            </a:r>
            <a:r>
              <a:rPr dirty="0"/>
              <a:t> </a:t>
            </a:r>
            <a:r>
              <a:rPr dirty="0" err="1"/>
              <a:t>այն</a:t>
            </a:r>
            <a:r>
              <a:rPr dirty="0"/>
              <a:t> է,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մի</a:t>
            </a:r>
            <a:r>
              <a:rPr dirty="0"/>
              <a:t> </a:t>
            </a:r>
            <a:r>
              <a:rPr dirty="0" err="1"/>
              <a:t>շարք</a:t>
            </a:r>
            <a:r>
              <a:rPr dirty="0"/>
              <a:t> </a:t>
            </a:r>
            <a:r>
              <a:rPr dirty="0" err="1"/>
              <a:t>հատկանիշների</a:t>
            </a:r>
            <a:r>
              <a:rPr dirty="0"/>
              <a:t> </a:t>
            </a:r>
            <a:r>
              <a:rPr dirty="0" err="1"/>
              <a:t>գործակիցներ</a:t>
            </a:r>
            <a:r>
              <a:rPr dirty="0"/>
              <a:t> </a:t>
            </a:r>
            <a:r>
              <a:rPr dirty="0" err="1"/>
              <a:t>դարձնում</a:t>
            </a:r>
            <a:r>
              <a:rPr dirty="0"/>
              <a:t> է </a:t>
            </a:r>
            <a:r>
              <a:rPr dirty="0" err="1"/>
              <a:t>զրո</a:t>
            </a:r>
            <a:r>
              <a:rPr dirty="0"/>
              <a:t>՝ </a:t>
            </a:r>
            <a:r>
              <a:rPr dirty="0" err="1"/>
              <a:t>պարզեցնելով</a:t>
            </a:r>
            <a:r>
              <a:rPr dirty="0"/>
              <a:t> </a:t>
            </a:r>
            <a:r>
              <a:rPr dirty="0" err="1"/>
              <a:t>մոդելը</a:t>
            </a:r>
            <a:r>
              <a:rPr dirty="0"/>
              <a:t> և </a:t>
            </a:r>
            <a:r>
              <a:rPr dirty="0" err="1"/>
              <a:t>առանձնացնելով</a:t>
            </a:r>
            <a:r>
              <a:rPr dirty="0"/>
              <a:t> </a:t>
            </a:r>
            <a:r>
              <a:rPr dirty="0" err="1"/>
              <a:t>ամենաթիվ</a:t>
            </a:r>
            <a:r>
              <a:rPr dirty="0"/>
              <a:t> </a:t>
            </a:r>
            <a:r>
              <a:rPr dirty="0" err="1"/>
              <a:t>ազդեցիկ</a:t>
            </a:r>
            <a:r>
              <a:rPr dirty="0"/>
              <a:t> </a:t>
            </a:r>
            <a:r>
              <a:rPr dirty="0" err="1"/>
              <a:t>գործոնները</a:t>
            </a:r>
            <a:r>
              <a:rPr dirty="0"/>
              <a:t>։ Coefficients-ի </a:t>
            </a:r>
            <a:r>
              <a:rPr dirty="0" err="1"/>
              <a:t>նշանների</a:t>
            </a:r>
            <a:r>
              <a:rPr dirty="0"/>
              <a:t> </a:t>
            </a:r>
            <a:r>
              <a:rPr dirty="0" err="1"/>
              <a:t>վերլուծությունը</a:t>
            </a:r>
            <a:r>
              <a:rPr dirty="0"/>
              <a:t> </a:t>
            </a:r>
            <a:r>
              <a:rPr dirty="0" err="1"/>
              <a:t>հաստատում</a:t>
            </a:r>
            <a:r>
              <a:rPr dirty="0"/>
              <a:t> է </a:t>
            </a:r>
            <a:r>
              <a:rPr dirty="0" err="1"/>
              <a:t>ինտուիտիվ</a:t>
            </a:r>
            <a:r>
              <a:rPr dirty="0"/>
              <a:t> </a:t>
            </a:r>
            <a:r>
              <a:rPr dirty="0" err="1"/>
              <a:t>սպասումները</a:t>
            </a:r>
            <a:r>
              <a:rPr dirty="0"/>
              <a:t>՝ RM-ի </a:t>
            </a:r>
            <a:r>
              <a:rPr dirty="0" err="1"/>
              <a:t>դրական</a:t>
            </a:r>
            <a:r>
              <a:rPr dirty="0"/>
              <a:t>, LSTAT-ի և NOX-ի </a:t>
            </a:r>
            <a:r>
              <a:rPr dirty="0" err="1"/>
              <a:t>բացասական</a:t>
            </a:r>
            <a:r>
              <a:rPr dirty="0"/>
              <a:t> </a:t>
            </a:r>
            <a:r>
              <a:rPr dirty="0" err="1"/>
              <a:t>ազդեցությունները</a:t>
            </a:r>
            <a:r>
              <a:rPr dirty="0"/>
              <a:t> MEDV-ի </a:t>
            </a:r>
            <a:r>
              <a:rPr dirty="0" err="1"/>
              <a:t>վրա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Եզրակացություններ և հետագա ուղղություններ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638045"/>
            <a:ext cx="6161828" cy="3608846"/>
          </a:xfrm>
        </p:spPr>
        <p:txBody>
          <a:bodyPr>
            <a:normAutofit fontScale="85000" lnSpcReduction="10000"/>
          </a:bodyPr>
          <a:lstStyle/>
          <a:p>
            <a:r>
              <a:rPr dirty="0" err="1"/>
              <a:t>Աշխատանքի</a:t>
            </a:r>
            <a:r>
              <a:rPr dirty="0"/>
              <a:t> </a:t>
            </a:r>
            <a:r>
              <a:rPr dirty="0" err="1"/>
              <a:t>ընթացքում</a:t>
            </a:r>
            <a:r>
              <a:rPr dirty="0"/>
              <a:t> </a:t>
            </a:r>
            <a:r>
              <a:rPr dirty="0" err="1"/>
              <a:t>հաջողվել</a:t>
            </a:r>
            <a:r>
              <a:rPr dirty="0"/>
              <a:t> է </a:t>
            </a:r>
            <a:r>
              <a:rPr dirty="0" err="1"/>
              <a:t>կառուցել</a:t>
            </a:r>
            <a:r>
              <a:rPr dirty="0"/>
              <a:t> և </a:t>
            </a:r>
            <a:r>
              <a:rPr dirty="0" err="1"/>
              <a:t>փորձարկել</a:t>
            </a:r>
            <a:r>
              <a:rPr dirty="0"/>
              <a:t> Ridge և Lasso </a:t>
            </a:r>
            <a:r>
              <a:rPr dirty="0" err="1"/>
              <a:t>կարգավորված</a:t>
            </a:r>
            <a:r>
              <a:rPr dirty="0"/>
              <a:t>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ռեգրեսիայի</a:t>
            </a:r>
            <a:r>
              <a:rPr dirty="0"/>
              <a:t> </a:t>
            </a:r>
            <a:r>
              <a:rPr dirty="0" err="1"/>
              <a:t>մոդելներ</a:t>
            </a:r>
            <a:r>
              <a:rPr dirty="0"/>
              <a:t> Boston Housing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վրա</a:t>
            </a:r>
            <a:r>
              <a:rPr dirty="0"/>
              <a:t>՝ </a:t>
            </a:r>
            <a:r>
              <a:rPr dirty="0" err="1"/>
              <a:t>ստանալով</a:t>
            </a:r>
            <a:r>
              <a:rPr dirty="0"/>
              <a:t> </a:t>
            </a:r>
            <a:r>
              <a:rPr dirty="0" err="1"/>
              <a:t>բավարար</a:t>
            </a:r>
            <a:r>
              <a:rPr dirty="0"/>
              <a:t> </a:t>
            </a:r>
            <a:r>
              <a:rPr dirty="0" err="1"/>
              <a:t>կանխատեսական</a:t>
            </a:r>
            <a:r>
              <a:rPr dirty="0"/>
              <a:t> </a:t>
            </a:r>
            <a:r>
              <a:rPr dirty="0" err="1"/>
              <a:t>որակ</a:t>
            </a:r>
            <a:r>
              <a:rPr dirty="0"/>
              <a:t> և </a:t>
            </a:r>
            <a:r>
              <a:rPr dirty="0" err="1"/>
              <a:t>ինտերպրետացվող</a:t>
            </a:r>
            <a:r>
              <a:rPr dirty="0"/>
              <a:t> </a:t>
            </a:r>
            <a:r>
              <a:rPr dirty="0" err="1"/>
              <a:t>արդյունքներ</a:t>
            </a:r>
            <a:r>
              <a:rPr dirty="0"/>
              <a:t>։ </a:t>
            </a:r>
            <a:r>
              <a:rPr dirty="0" err="1"/>
              <a:t>Կատարվել</a:t>
            </a:r>
            <a:r>
              <a:rPr dirty="0"/>
              <a:t> է </a:t>
            </a:r>
            <a:r>
              <a:rPr dirty="0" err="1"/>
              <a:t>տվյալների</a:t>
            </a:r>
            <a:r>
              <a:rPr dirty="0"/>
              <a:t> </a:t>
            </a:r>
            <a:r>
              <a:rPr dirty="0" err="1"/>
              <a:t>նախապատրաստում</a:t>
            </a:r>
            <a:r>
              <a:rPr dirty="0"/>
              <a:t>, EDA, </a:t>
            </a:r>
            <a:r>
              <a:rPr dirty="0" err="1"/>
              <a:t>մոդելների</a:t>
            </a:r>
            <a:r>
              <a:rPr dirty="0"/>
              <a:t> </a:t>
            </a:r>
            <a:r>
              <a:rPr dirty="0" err="1"/>
              <a:t>ծրագրային</a:t>
            </a:r>
            <a:r>
              <a:rPr dirty="0"/>
              <a:t> </a:t>
            </a:r>
            <a:r>
              <a:rPr dirty="0" err="1"/>
              <a:t>իրագործում</a:t>
            </a:r>
            <a:r>
              <a:rPr dirty="0"/>
              <a:t> «0-ից», </a:t>
            </a:r>
            <a:r>
              <a:rPr dirty="0" err="1"/>
              <a:t>գնահատում</a:t>
            </a:r>
            <a:r>
              <a:rPr dirty="0"/>
              <a:t> և </a:t>
            </a:r>
            <a:r>
              <a:rPr dirty="0" err="1"/>
              <a:t>համեմատություն</a:t>
            </a:r>
            <a:r>
              <a:rPr dirty="0"/>
              <a:t>։ </a:t>
            </a:r>
            <a:r>
              <a:rPr dirty="0" err="1"/>
              <a:t>Կարելի</a:t>
            </a:r>
            <a:r>
              <a:rPr dirty="0"/>
              <a:t> է </a:t>
            </a:r>
            <a:r>
              <a:rPr dirty="0" err="1"/>
              <a:t>եզրակացնել</a:t>
            </a:r>
            <a:r>
              <a:rPr dirty="0"/>
              <a:t>, </a:t>
            </a:r>
            <a:r>
              <a:rPr dirty="0" err="1"/>
              <a:t>որ</a:t>
            </a:r>
            <a:r>
              <a:rPr dirty="0"/>
              <a:t> </a:t>
            </a:r>
            <a:r>
              <a:rPr dirty="0" err="1"/>
              <a:t>կարգավորված</a:t>
            </a:r>
            <a:r>
              <a:rPr dirty="0"/>
              <a:t>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մոդելները</a:t>
            </a:r>
            <a:r>
              <a:rPr dirty="0"/>
              <a:t> </a:t>
            </a:r>
            <a:r>
              <a:rPr dirty="0" err="1"/>
              <a:t>արդյունավետ</a:t>
            </a:r>
            <a:r>
              <a:rPr dirty="0"/>
              <a:t> են </a:t>
            </a:r>
            <a:r>
              <a:rPr dirty="0" err="1"/>
              <a:t>բնակարանային</a:t>
            </a:r>
            <a:r>
              <a:rPr dirty="0"/>
              <a:t> </a:t>
            </a:r>
            <a:r>
              <a:rPr dirty="0" err="1"/>
              <a:t>շուկայի</a:t>
            </a:r>
            <a:r>
              <a:rPr dirty="0"/>
              <a:t> </a:t>
            </a:r>
            <a:r>
              <a:rPr dirty="0" err="1"/>
              <a:t>վերլուծության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՝ </a:t>
            </a:r>
            <a:r>
              <a:rPr dirty="0" err="1"/>
              <a:t>ապահովելով</a:t>
            </a:r>
            <a:r>
              <a:rPr dirty="0"/>
              <a:t> </a:t>
            </a:r>
            <a:r>
              <a:rPr dirty="0" err="1"/>
              <a:t>կայունություն</a:t>
            </a:r>
            <a:r>
              <a:rPr dirty="0"/>
              <a:t> multicollinearity-ի </a:t>
            </a:r>
            <a:r>
              <a:rPr dirty="0" err="1"/>
              <a:t>պայմաններում</a:t>
            </a:r>
            <a:r>
              <a:rPr dirty="0"/>
              <a:t> և </a:t>
            </a:r>
            <a:r>
              <a:rPr dirty="0" err="1"/>
              <a:t>հնարավորություն</a:t>
            </a:r>
            <a:r>
              <a:rPr dirty="0"/>
              <a:t> </a:t>
            </a:r>
            <a:r>
              <a:rPr dirty="0" err="1"/>
              <a:t>տալով</a:t>
            </a:r>
            <a:r>
              <a:rPr dirty="0"/>
              <a:t> </a:t>
            </a:r>
            <a:r>
              <a:rPr dirty="0" err="1"/>
              <a:t>առանձնացնել</a:t>
            </a:r>
            <a:r>
              <a:rPr dirty="0"/>
              <a:t> </a:t>
            </a:r>
            <a:r>
              <a:rPr dirty="0" err="1"/>
              <a:t>հիմնական</a:t>
            </a:r>
            <a:r>
              <a:rPr dirty="0"/>
              <a:t> </a:t>
            </a:r>
            <a:r>
              <a:rPr dirty="0" err="1"/>
              <a:t>ազդեցիկ</a:t>
            </a:r>
            <a:r>
              <a:rPr dirty="0"/>
              <a:t> </a:t>
            </a:r>
            <a:r>
              <a:rPr dirty="0" err="1"/>
              <a:t>գործոնները</a:t>
            </a:r>
            <a:r>
              <a:rPr dirty="0"/>
              <a:t>։ </a:t>
            </a:r>
            <a:r>
              <a:rPr dirty="0" err="1"/>
              <a:t>Հետագա</a:t>
            </a:r>
            <a:r>
              <a:rPr dirty="0"/>
              <a:t> </a:t>
            </a:r>
            <a:r>
              <a:rPr dirty="0" err="1"/>
              <a:t>աշխատությունների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 </a:t>
            </a:r>
            <a:r>
              <a:rPr dirty="0" err="1"/>
              <a:t>հնարավոր</a:t>
            </a:r>
            <a:r>
              <a:rPr dirty="0"/>
              <a:t> է </a:t>
            </a:r>
            <a:r>
              <a:rPr dirty="0" err="1"/>
              <a:t>կիրառել</a:t>
            </a:r>
            <a:r>
              <a:rPr dirty="0"/>
              <a:t> </a:t>
            </a:r>
            <a:r>
              <a:rPr dirty="0" err="1"/>
              <a:t>ավելի</a:t>
            </a:r>
            <a:r>
              <a:rPr dirty="0"/>
              <a:t> </a:t>
            </a:r>
            <a:r>
              <a:rPr dirty="0" err="1"/>
              <a:t>խորը</a:t>
            </a:r>
            <a:r>
              <a:rPr dirty="0"/>
              <a:t> cross-validation </a:t>
            </a:r>
            <a:r>
              <a:rPr dirty="0" err="1"/>
              <a:t>կարգավորման</a:t>
            </a:r>
            <a:r>
              <a:rPr dirty="0"/>
              <a:t> </a:t>
            </a:r>
            <a:r>
              <a:rPr dirty="0" err="1"/>
              <a:t>պարամետրի</a:t>
            </a:r>
            <a:r>
              <a:rPr dirty="0"/>
              <a:t> </a:t>
            </a:r>
            <a:r>
              <a:rPr dirty="0" err="1"/>
              <a:t>ընտրության</a:t>
            </a:r>
            <a:r>
              <a:rPr dirty="0"/>
              <a:t> </a:t>
            </a:r>
            <a:r>
              <a:rPr dirty="0" err="1"/>
              <a:t>համար</a:t>
            </a:r>
            <a:r>
              <a:rPr dirty="0"/>
              <a:t>, </a:t>
            </a:r>
            <a:r>
              <a:rPr dirty="0" err="1"/>
              <a:t>ինչպես</a:t>
            </a:r>
            <a:r>
              <a:rPr dirty="0"/>
              <a:t> </a:t>
            </a:r>
            <a:r>
              <a:rPr dirty="0" err="1"/>
              <a:t>նաև</a:t>
            </a:r>
            <a:r>
              <a:rPr dirty="0"/>
              <a:t> </a:t>
            </a:r>
            <a:r>
              <a:rPr dirty="0" err="1"/>
              <a:t>համեմատել</a:t>
            </a:r>
            <a:r>
              <a:rPr dirty="0"/>
              <a:t> </a:t>
            </a:r>
            <a:r>
              <a:rPr dirty="0" err="1"/>
              <a:t>ստացված</a:t>
            </a:r>
            <a:r>
              <a:rPr dirty="0"/>
              <a:t> </a:t>
            </a:r>
            <a:r>
              <a:rPr dirty="0" err="1"/>
              <a:t>մոդելները</a:t>
            </a:r>
            <a:r>
              <a:rPr dirty="0"/>
              <a:t> </a:t>
            </a:r>
            <a:r>
              <a:rPr dirty="0" err="1"/>
              <a:t>ոչ</a:t>
            </a:r>
            <a:r>
              <a:rPr dirty="0"/>
              <a:t> </a:t>
            </a:r>
            <a:r>
              <a:rPr dirty="0" err="1"/>
              <a:t>գծային</a:t>
            </a:r>
            <a:r>
              <a:rPr dirty="0"/>
              <a:t> </a:t>
            </a:r>
            <a:r>
              <a:rPr dirty="0" err="1"/>
              <a:t>ալգորիթմների</a:t>
            </a:r>
            <a:r>
              <a:rPr dirty="0"/>
              <a:t> </a:t>
            </a:r>
            <a:r>
              <a:rPr dirty="0" err="1"/>
              <a:t>հետ</a:t>
            </a:r>
            <a:r>
              <a:rPr dirty="0"/>
              <a:t>՝ Random Forest, Gradient Boosting, </a:t>
            </a:r>
            <a:r>
              <a:rPr dirty="0" err="1"/>
              <a:t>նեյրոնային</a:t>
            </a:r>
            <a:r>
              <a:rPr dirty="0"/>
              <a:t> </a:t>
            </a:r>
            <a:r>
              <a:rPr dirty="0" err="1"/>
              <a:t>ցանցեր</a:t>
            </a:r>
            <a:r>
              <a:rPr dirty="0"/>
              <a:t>։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12</TotalTime>
  <Words>1323</Words>
  <Application>Microsoft Office PowerPoint</Application>
  <PresentationFormat>On-screen Show (4:3)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Savon</vt:lpstr>
      <vt:lpstr>Ներածություն և թեմայի նկարագրություն</vt:lpstr>
      <vt:lpstr>Խնդրի դրվածք, օբյեկտ, առարկա, նպատակ</vt:lpstr>
      <vt:lpstr>Ռեգրեսիայի խնդրի էությունը և կիրառությունները</vt:lpstr>
      <vt:lpstr>Գծային ռեգրեսիա և OLS սահմանափակումներ</vt:lpstr>
      <vt:lpstr>Կարգավորման հիմնական գաղափարը</vt:lpstr>
      <vt:lpstr>Ridge Regression (L2) առանձնահատկություններ</vt:lpstr>
      <vt:lpstr>Lasso Regression (L1) և գնահատման չափանիշներ</vt:lpstr>
      <vt:lpstr>Boston Housing տվյալների հավաքածու</vt:lpstr>
      <vt:lpstr>Տվյալների նախնական վերլուծություն և նախապատրաստում</vt:lpstr>
      <vt:lpstr>Մոդելների ծրագրային իրագործումը Python-ում</vt:lpstr>
      <vt:lpstr>Փորձարկման արդյունքներ և մոդելների համեմատություն</vt:lpstr>
      <vt:lpstr>Եզրակացություններ և հետագա ուղղություններ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Armen Asryan</dc:creator>
  <cp:keywords/>
  <dc:description>generated using python-pptx</dc:description>
  <cp:lastModifiedBy>Armen Asryan</cp:lastModifiedBy>
  <cp:revision>2</cp:revision>
  <dcterms:created xsi:type="dcterms:W3CDTF">2013-01-27T09:14:16Z</dcterms:created>
  <dcterms:modified xsi:type="dcterms:W3CDTF">2025-12-10T00:42:49Z</dcterms:modified>
  <cp:category/>
</cp:coreProperties>
</file>